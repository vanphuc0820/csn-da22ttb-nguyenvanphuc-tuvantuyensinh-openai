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abin" charset="1" panose="00000500000000000000"/>
      <p:regular r:id="rId18"/>
    </p:embeddedFont>
    <p:embeddedFont>
      <p:font typeface="Muli" charset="1" panose="00000500000000000000"/>
      <p:regular r:id="rId19"/>
    </p:embeddedFont>
    <p:embeddedFont>
      <p:font typeface="Noto Sans Bold" charset="1" panose="020B0802040504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5594" y="-70647"/>
            <a:ext cx="18494060" cy="10402909"/>
          </a:xfrm>
          <a:custGeom>
            <a:avLst/>
            <a:gdLst/>
            <a:ahLst/>
            <a:cxnLst/>
            <a:rect r="r" b="b" t="t" l="l"/>
            <a:pathLst>
              <a:path h="10402909" w="18494060">
                <a:moveTo>
                  <a:pt x="0" y="0"/>
                </a:moveTo>
                <a:lnTo>
                  <a:pt x="18494060" y="0"/>
                </a:lnTo>
                <a:lnTo>
                  <a:pt x="18494060" y="10402909"/>
                </a:lnTo>
                <a:lnTo>
                  <a:pt x="0" y="104029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262338" y="3162375"/>
            <a:ext cx="13201745" cy="3860287"/>
            <a:chOff x="0" y="0"/>
            <a:chExt cx="17602327" cy="5147049"/>
          </a:xfrm>
        </p:grpSpPr>
        <p:sp>
          <p:nvSpPr>
            <p:cNvPr name="TextBox 4" id="4"/>
            <p:cNvSpPr txBox="true"/>
            <p:nvPr/>
          </p:nvSpPr>
          <p:spPr>
            <a:xfrm rot="0">
              <a:off x="0" y="123825"/>
              <a:ext cx="17602327" cy="3209485"/>
            </a:xfrm>
            <a:prstGeom prst="rect">
              <a:avLst/>
            </a:prstGeom>
          </p:spPr>
          <p:txBody>
            <a:bodyPr anchor="t" rtlCol="false" tIns="0" lIns="0" bIns="0" rIns="0">
              <a:spAutoFit/>
            </a:bodyPr>
            <a:lstStyle/>
            <a:p>
              <a:pPr algn="ctr">
                <a:lnSpc>
                  <a:spcPts val="6174"/>
                </a:lnSpc>
              </a:pPr>
              <a:r>
                <a:rPr lang="en-US" sz="6174">
                  <a:solidFill>
                    <a:srgbClr val="FFFFFF"/>
                  </a:solidFill>
                  <a:latin typeface="Cabin"/>
                  <a:ea typeface="Cabin"/>
                  <a:cs typeface="Cabin"/>
                  <a:sym typeface="Cabin"/>
                </a:rPr>
                <a:t>Tìm hiểu Lànglow và xây</a:t>
              </a:r>
              <a:r>
                <a:rPr lang="en-US" sz="6174">
                  <a:solidFill>
                    <a:srgbClr val="FFFFFF"/>
                  </a:solidFill>
                  <a:latin typeface="Cabin"/>
                  <a:ea typeface="Cabin"/>
                  <a:cs typeface="Cabin"/>
                  <a:sym typeface="Cabin"/>
                </a:rPr>
                <a:t> dựng Pipeline Tư vấn Tuyển sinh Đại học Trà Vinh bằng Langflow và Ollama.</a:t>
              </a:r>
            </a:p>
          </p:txBody>
        </p:sp>
        <p:sp>
          <p:nvSpPr>
            <p:cNvPr name="TextBox 5" id="5"/>
            <p:cNvSpPr txBox="true"/>
            <p:nvPr/>
          </p:nvSpPr>
          <p:spPr>
            <a:xfrm rot="0">
              <a:off x="289298" y="4537449"/>
              <a:ext cx="17023731" cy="609600"/>
            </a:xfrm>
            <a:prstGeom prst="rect">
              <a:avLst/>
            </a:prstGeom>
          </p:spPr>
          <p:txBody>
            <a:bodyPr anchor="t" rtlCol="false" tIns="0" lIns="0" bIns="0" rIns="0">
              <a:spAutoFit/>
            </a:bodyPr>
            <a:lstStyle/>
            <a:p>
              <a:pPr algn="l">
                <a:lnSpc>
                  <a:spcPts val="3672"/>
                </a:lnSpc>
              </a:pPr>
              <a:r>
                <a:rPr lang="en-US" sz="3060">
                  <a:solidFill>
                    <a:srgbClr val="FFFFFF"/>
                  </a:solidFill>
                  <a:latin typeface="Muli"/>
                  <a:ea typeface="Muli"/>
                  <a:cs typeface="Muli"/>
                  <a:sym typeface="Muli"/>
                </a:rPr>
                <a:t>Ứng dụng mô hìn</a:t>
              </a:r>
              <a:r>
                <a:rPr lang="en-US" sz="3060">
                  <a:solidFill>
                    <a:srgbClr val="FFFFFF"/>
                  </a:solidFill>
                  <a:latin typeface="Muli"/>
                  <a:ea typeface="Muli"/>
                  <a:cs typeface="Muli"/>
                  <a:sym typeface="Muli"/>
                </a:rPr>
                <a:t>h ngôn ngữ lớn (LLM) và kỹ thuật RAG trong giáo dục.</a:t>
              </a:r>
            </a:p>
          </p:txBody>
        </p:sp>
      </p:grpSp>
      <p:sp>
        <p:nvSpPr>
          <p:cNvPr name="TextBox 6" id="6"/>
          <p:cNvSpPr txBox="true"/>
          <p:nvPr/>
        </p:nvSpPr>
        <p:spPr>
          <a:xfrm rot="0">
            <a:off x="11782448" y="8861425"/>
            <a:ext cx="5476852" cy="396875"/>
          </a:xfrm>
          <a:prstGeom prst="rect">
            <a:avLst/>
          </a:prstGeom>
        </p:spPr>
        <p:txBody>
          <a:bodyPr anchor="t" rtlCol="false" tIns="0" lIns="0" bIns="0" rIns="0">
            <a:spAutoFit/>
          </a:bodyPr>
          <a:lstStyle/>
          <a:p>
            <a:pPr algn="l">
              <a:lnSpc>
                <a:spcPts val="3249"/>
              </a:lnSpc>
              <a:spcBef>
                <a:spcPct val="0"/>
              </a:spcBef>
            </a:pPr>
            <a:r>
              <a:rPr lang="en-US" sz="2499">
                <a:solidFill>
                  <a:srgbClr val="FFFFFF"/>
                </a:solidFill>
                <a:latin typeface="Muli"/>
                <a:ea typeface="Muli"/>
                <a:cs typeface="Muli"/>
                <a:sym typeface="Muli"/>
              </a:rPr>
              <a:t>Người thực hiện: Nguyễn Văn Phúc</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1356E"/>
        </a:solidFill>
      </p:bgPr>
    </p:bg>
    <p:spTree>
      <p:nvGrpSpPr>
        <p:cNvPr id="1" name=""/>
        <p:cNvGrpSpPr/>
        <p:nvPr/>
      </p:nvGrpSpPr>
      <p:grpSpPr>
        <a:xfrm>
          <a:off x="0" y="0"/>
          <a:ext cx="0" cy="0"/>
          <a:chOff x="0" y="0"/>
          <a:chExt cx="0" cy="0"/>
        </a:xfrm>
      </p:grpSpPr>
      <p:sp>
        <p:nvSpPr>
          <p:cNvPr name="TextBox 2" id="2"/>
          <p:cNvSpPr txBox="true"/>
          <p:nvPr/>
        </p:nvSpPr>
        <p:spPr>
          <a:xfrm rot="0">
            <a:off x="1487445" y="1495425"/>
            <a:ext cx="15771855" cy="8248650"/>
          </a:xfrm>
          <a:prstGeom prst="rect">
            <a:avLst/>
          </a:prstGeom>
        </p:spPr>
        <p:txBody>
          <a:bodyPr anchor="t" rtlCol="false" tIns="0" lIns="0" bIns="0" rIns="0">
            <a:spAutoFit/>
          </a:bodyPr>
          <a:lstStyle/>
          <a:p>
            <a:pPr algn="l">
              <a:lnSpc>
                <a:spcPts val="3840"/>
              </a:lnSpc>
            </a:pPr>
            <a:r>
              <a:rPr lang="en-US" sz="3200">
                <a:solidFill>
                  <a:srgbClr val="FFFFFF"/>
                </a:solidFill>
                <a:latin typeface="Muli"/>
                <a:ea typeface="Muli"/>
                <a:cs typeface="Muli"/>
                <a:sym typeface="Muli"/>
              </a:rPr>
              <a:t>1. Định nghĩa:</a:t>
            </a:r>
          </a:p>
          <a:p>
            <a:pPr algn="l" marL="690881" indent="-345440" lvl="1">
              <a:lnSpc>
                <a:spcPts val="3840"/>
              </a:lnSpc>
              <a:spcBef>
                <a:spcPct val="0"/>
              </a:spcBef>
              <a:buFont typeface="Arial"/>
              <a:buChar char="•"/>
            </a:pPr>
            <a:r>
              <a:rPr lang="en-US" sz="3200">
                <a:solidFill>
                  <a:srgbClr val="FFFFFF"/>
                </a:solidFill>
                <a:latin typeface="Muli"/>
                <a:ea typeface="Muli"/>
                <a:cs typeface="Muli"/>
                <a:sym typeface="Muli"/>
              </a:rPr>
              <a:t>Là công cụ giao diện người dùng (UI) mã nguồn mở, chuyên dùng để thiết kế và xây dựng các ứng dụng </a:t>
            </a:r>
            <a:r>
              <a:rPr lang="en-US" sz="3200" u="none">
                <a:solidFill>
                  <a:srgbClr val="FFFFFF"/>
                </a:solidFill>
                <a:latin typeface="Muli"/>
                <a:ea typeface="Muli"/>
                <a:cs typeface="Muli"/>
                <a:sym typeface="Muli"/>
              </a:rPr>
              <a:t>Trí tuệ nhân tạo (AI).</a:t>
            </a:r>
          </a:p>
          <a:p>
            <a:pPr algn="l" marL="690881" indent="-345440" lvl="1">
              <a:lnSpc>
                <a:spcPts val="3840"/>
              </a:lnSpc>
              <a:spcBef>
                <a:spcPct val="0"/>
              </a:spcBef>
              <a:buFont typeface="Arial"/>
              <a:buChar char="•"/>
            </a:pPr>
            <a:r>
              <a:rPr lang="en-US" sz="3200" u="none">
                <a:solidFill>
                  <a:srgbClr val="FFFFFF"/>
                </a:solidFill>
                <a:latin typeface="Muli"/>
                <a:ea typeface="Muli"/>
                <a:cs typeface="Muli"/>
                <a:sym typeface="Muli"/>
              </a:rPr>
              <a:t>Được phát triển dựa trên nền tảng LangChain (Framework phổ biến nhất để làm việc với LLM).</a:t>
            </a:r>
          </a:p>
          <a:p>
            <a:pPr algn="l" marL="0" indent="0" lvl="0">
              <a:lnSpc>
                <a:spcPts val="3840"/>
              </a:lnSpc>
              <a:spcBef>
                <a:spcPct val="0"/>
              </a:spcBef>
            </a:pPr>
            <a:r>
              <a:rPr lang="en-US" sz="3200" u="none">
                <a:solidFill>
                  <a:srgbClr val="FFFFFF"/>
                </a:solidFill>
                <a:latin typeface="Muli"/>
                <a:ea typeface="Muli"/>
                <a:cs typeface="Muli"/>
                <a:sym typeface="Muli"/>
              </a:rPr>
              <a:t>2. Đặc điểm nổi bật:</a:t>
            </a:r>
          </a:p>
          <a:p>
            <a:pPr algn="l" marL="690881" indent="-345440" lvl="1">
              <a:lnSpc>
                <a:spcPts val="3840"/>
              </a:lnSpc>
              <a:spcBef>
                <a:spcPct val="0"/>
              </a:spcBef>
              <a:buFont typeface="Arial"/>
              <a:buChar char="•"/>
            </a:pPr>
            <a:r>
              <a:rPr lang="en-US" sz="3200" u="none">
                <a:solidFill>
                  <a:srgbClr val="FFFFFF"/>
                </a:solidFill>
                <a:latin typeface="Muli"/>
                <a:ea typeface="Muli"/>
                <a:cs typeface="Muli"/>
                <a:sym typeface="Muli"/>
              </a:rPr>
              <a:t>Low-code / No-code: Xây dựng ứng dụng bằng thao tác kéo - thả (Drag-and-Drop) các thành phần thay vì viết code thủ công.</a:t>
            </a:r>
          </a:p>
          <a:p>
            <a:pPr algn="l" marL="690881" indent="-345440" lvl="1">
              <a:lnSpc>
                <a:spcPts val="3840"/>
              </a:lnSpc>
              <a:spcBef>
                <a:spcPct val="0"/>
              </a:spcBef>
              <a:buFont typeface="Arial"/>
              <a:buChar char="•"/>
            </a:pPr>
            <a:r>
              <a:rPr lang="en-US" sz="3200" u="none">
                <a:solidFill>
                  <a:srgbClr val="FFFFFF"/>
                </a:solidFill>
                <a:latin typeface="Muli"/>
                <a:ea typeface="Muli"/>
                <a:cs typeface="Muli"/>
                <a:sym typeface="Muli"/>
              </a:rPr>
              <a:t>Trực quan hóa: Giúp lập trình viên nhìn thấy rõ luồng đi của dữ liệu (Data Flow) từ đầu vào đến đầu ra.</a:t>
            </a:r>
          </a:p>
          <a:p>
            <a:pPr algn="l" marL="690881" indent="-345440" lvl="1">
              <a:lnSpc>
                <a:spcPts val="3840"/>
              </a:lnSpc>
              <a:spcBef>
                <a:spcPct val="0"/>
              </a:spcBef>
              <a:buFont typeface="Arial"/>
              <a:buChar char="•"/>
            </a:pPr>
            <a:r>
              <a:rPr lang="en-US" sz="3200" u="none">
                <a:solidFill>
                  <a:srgbClr val="FFFFFF"/>
                </a:solidFill>
                <a:latin typeface="Muli"/>
                <a:ea typeface="Muli"/>
                <a:cs typeface="Muli"/>
                <a:sym typeface="Muli"/>
              </a:rPr>
              <a:t>Linh hoạt: Dễ dàng thay thế, thử nghiệm các mô hình AI khác nhau (OpenAI, Ollama, HuggingFace...) chỉ bằng vài cú click.</a:t>
            </a:r>
          </a:p>
          <a:p>
            <a:pPr algn="l" marL="0" indent="0" lvl="0">
              <a:lnSpc>
                <a:spcPts val="3840"/>
              </a:lnSpc>
              <a:spcBef>
                <a:spcPct val="0"/>
              </a:spcBef>
            </a:pPr>
            <a:r>
              <a:rPr lang="en-US" sz="3200" u="none">
                <a:solidFill>
                  <a:srgbClr val="FFFFFF"/>
                </a:solidFill>
                <a:latin typeface="Muli"/>
                <a:ea typeface="Muli"/>
                <a:cs typeface="Muli"/>
                <a:sym typeface="Muli"/>
              </a:rPr>
              <a:t>3. Ứng dụng chính:</a:t>
            </a:r>
          </a:p>
          <a:p>
            <a:pPr algn="l" marL="690881" indent="-345440" lvl="1">
              <a:lnSpc>
                <a:spcPts val="3840"/>
              </a:lnSpc>
              <a:spcBef>
                <a:spcPct val="0"/>
              </a:spcBef>
              <a:buFont typeface="Arial"/>
              <a:buChar char="•"/>
            </a:pPr>
            <a:r>
              <a:rPr lang="en-US" sz="3200" u="none">
                <a:solidFill>
                  <a:srgbClr val="FFFFFF"/>
                </a:solidFill>
                <a:latin typeface="Muli"/>
                <a:ea typeface="Muli"/>
                <a:cs typeface="Muli"/>
                <a:sym typeface="Muli"/>
              </a:rPr>
              <a:t>Xây dựng Chatbot thông minh.</a:t>
            </a:r>
          </a:p>
          <a:p>
            <a:pPr algn="l" marL="690881" indent="-345440" lvl="1">
              <a:lnSpc>
                <a:spcPts val="3840"/>
              </a:lnSpc>
              <a:spcBef>
                <a:spcPct val="0"/>
              </a:spcBef>
              <a:buFont typeface="Arial"/>
              <a:buChar char="•"/>
            </a:pPr>
            <a:r>
              <a:rPr lang="en-US" sz="3200" u="none">
                <a:solidFill>
                  <a:srgbClr val="FFFFFF"/>
                </a:solidFill>
                <a:latin typeface="Muli"/>
                <a:ea typeface="Muli"/>
                <a:cs typeface="Muli"/>
                <a:sym typeface="Muli"/>
              </a:rPr>
              <a:t>Hệ thống RAG (Hỏi đáp dựa trên dữ liệu tài liệu riêng).</a:t>
            </a:r>
          </a:p>
          <a:p>
            <a:pPr algn="l" marL="690881" indent="-345440" lvl="1">
              <a:lnSpc>
                <a:spcPts val="3840"/>
              </a:lnSpc>
              <a:spcBef>
                <a:spcPct val="0"/>
              </a:spcBef>
              <a:buFont typeface="Arial"/>
              <a:buChar char="•"/>
            </a:pPr>
            <a:r>
              <a:rPr lang="en-US" sz="3200" u="none">
                <a:solidFill>
                  <a:srgbClr val="FFFFFF"/>
                </a:solidFill>
                <a:latin typeface="Muli"/>
                <a:ea typeface="Muli"/>
                <a:cs typeface="Muli"/>
                <a:sym typeface="Muli"/>
              </a:rPr>
              <a:t>Tạo các tác nhân AI (AI Agents) tự động hóa quy trình.</a:t>
            </a:r>
          </a:p>
          <a:p>
            <a:pPr algn="l" marL="0" indent="0" lvl="0">
              <a:lnSpc>
                <a:spcPts val="3840"/>
              </a:lnSpc>
              <a:spcBef>
                <a:spcPct val="0"/>
              </a:spcBef>
            </a:pPr>
          </a:p>
        </p:txBody>
      </p:sp>
      <p:sp>
        <p:nvSpPr>
          <p:cNvPr name="Freeform 3" id="3"/>
          <p:cNvSpPr/>
          <p:nvPr/>
        </p:nvSpPr>
        <p:spPr>
          <a:xfrm flipH="true" flipV="false" rot="0">
            <a:off x="-8965962" y="0"/>
            <a:ext cx="10377977" cy="10377977"/>
          </a:xfrm>
          <a:custGeom>
            <a:avLst/>
            <a:gdLst/>
            <a:ahLst/>
            <a:cxnLst/>
            <a:rect r="r" b="b" t="t" l="l"/>
            <a:pathLst>
              <a:path h="10377977" w="10377977">
                <a:moveTo>
                  <a:pt x="10377977" y="0"/>
                </a:moveTo>
                <a:lnTo>
                  <a:pt x="0" y="0"/>
                </a:lnTo>
                <a:lnTo>
                  <a:pt x="0" y="10377977"/>
                </a:lnTo>
                <a:lnTo>
                  <a:pt x="10377977" y="10377977"/>
                </a:lnTo>
                <a:lnTo>
                  <a:pt x="1037797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12015" y="561975"/>
            <a:ext cx="10235440" cy="923925"/>
          </a:xfrm>
          <a:prstGeom prst="rect">
            <a:avLst/>
          </a:prstGeom>
        </p:spPr>
        <p:txBody>
          <a:bodyPr anchor="t" rtlCol="false" tIns="0" lIns="0" bIns="0" rIns="0">
            <a:spAutoFit/>
          </a:bodyPr>
          <a:lstStyle/>
          <a:p>
            <a:pPr algn="l">
              <a:lnSpc>
                <a:spcPts val="7200"/>
              </a:lnSpc>
            </a:pPr>
            <a:r>
              <a:rPr lang="en-US" sz="6000">
                <a:solidFill>
                  <a:srgbClr val="FFFFFF"/>
                </a:solidFill>
                <a:latin typeface="Cabin"/>
                <a:ea typeface="Cabin"/>
                <a:cs typeface="Cabin"/>
                <a:sym typeface="Cabin"/>
              </a:rPr>
              <a:t>TỔNG</a:t>
            </a:r>
            <a:r>
              <a:rPr lang="en-US" sz="6000">
                <a:solidFill>
                  <a:srgbClr val="FFFFFF"/>
                </a:solidFill>
                <a:latin typeface="Cabin"/>
                <a:ea typeface="Cabin"/>
                <a:cs typeface="Cabin"/>
                <a:sym typeface="Cabin"/>
              </a:rPr>
              <a:t> QUAN VỀ LANGFLOW</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1356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422529" cy="10350111"/>
          </a:xfrm>
          <a:custGeom>
            <a:avLst/>
            <a:gdLst/>
            <a:ahLst/>
            <a:cxnLst/>
            <a:rect r="r" b="b" t="t" l="l"/>
            <a:pathLst>
              <a:path h="10350111" w="18422529">
                <a:moveTo>
                  <a:pt x="0" y="0"/>
                </a:moveTo>
                <a:lnTo>
                  <a:pt x="18422529" y="0"/>
                </a:lnTo>
                <a:lnTo>
                  <a:pt x="18422529" y="10350111"/>
                </a:lnTo>
                <a:lnTo>
                  <a:pt x="0" y="103501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93371" y="3069355"/>
            <a:ext cx="11301259" cy="5424604"/>
          </a:xfrm>
          <a:custGeom>
            <a:avLst/>
            <a:gdLst/>
            <a:ahLst/>
            <a:cxnLst/>
            <a:rect r="r" b="b" t="t" l="l"/>
            <a:pathLst>
              <a:path h="5424604" w="11301259">
                <a:moveTo>
                  <a:pt x="0" y="0"/>
                </a:moveTo>
                <a:lnTo>
                  <a:pt x="11301258" y="0"/>
                </a:lnTo>
                <a:lnTo>
                  <a:pt x="11301258" y="5424605"/>
                </a:lnTo>
                <a:lnTo>
                  <a:pt x="0" y="5424605"/>
                </a:lnTo>
                <a:lnTo>
                  <a:pt x="0" y="0"/>
                </a:lnTo>
                <a:close/>
              </a:path>
            </a:pathLst>
          </a:custGeom>
          <a:blipFill>
            <a:blip r:embed="rId4"/>
            <a:stretch>
              <a:fillRect l="0" t="0" r="0" b="0"/>
            </a:stretch>
          </a:blipFill>
        </p:spPr>
      </p:sp>
      <p:sp>
        <p:nvSpPr>
          <p:cNvPr name="TextBox 4" id="4"/>
          <p:cNvSpPr txBox="true"/>
          <p:nvPr/>
        </p:nvSpPr>
        <p:spPr>
          <a:xfrm rot="0">
            <a:off x="1028700" y="561975"/>
            <a:ext cx="10235440" cy="923925"/>
          </a:xfrm>
          <a:prstGeom prst="rect">
            <a:avLst/>
          </a:prstGeom>
        </p:spPr>
        <p:txBody>
          <a:bodyPr anchor="t" rtlCol="false" tIns="0" lIns="0" bIns="0" rIns="0">
            <a:spAutoFit/>
          </a:bodyPr>
          <a:lstStyle/>
          <a:p>
            <a:pPr algn="l">
              <a:lnSpc>
                <a:spcPts val="7200"/>
              </a:lnSpc>
            </a:pPr>
            <a:r>
              <a:rPr lang="en-US" sz="6000">
                <a:solidFill>
                  <a:srgbClr val="FFFFFF"/>
                </a:solidFill>
                <a:latin typeface="Cabin"/>
                <a:ea typeface="Cabin"/>
                <a:cs typeface="Cabin"/>
                <a:sym typeface="Cabin"/>
              </a:rPr>
              <a:t>TỔNG</a:t>
            </a:r>
            <a:r>
              <a:rPr lang="en-US" sz="6000">
                <a:solidFill>
                  <a:srgbClr val="FFFFFF"/>
                </a:solidFill>
                <a:latin typeface="Cabin"/>
                <a:ea typeface="Cabin"/>
                <a:cs typeface="Cabin"/>
                <a:sym typeface="Cabin"/>
              </a:rPr>
              <a:t> QUAN VỀ LANGFLOW</a:t>
            </a:r>
          </a:p>
        </p:txBody>
      </p:sp>
      <p:sp>
        <p:nvSpPr>
          <p:cNvPr name="TextBox 5" id="5"/>
          <p:cNvSpPr txBox="true"/>
          <p:nvPr/>
        </p:nvSpPr>
        <p:spPr>
          <a:xfrm rot="0">
            <a:off x="1282955" y="1890278"/>
            <a:ext cx="5935570" cy="688974"/>
          </a:xfrm>
          <a:prstGeom prst="rect">
            <a:avLst/>
          </a:prstGeom>
        </p:spPr>
        <p:txBody>
          <a:bodyPr anchor="t" rtlCol="false" tIns="0" lIns="0" bIns="0" rIns="0">
            <a:spAutoFit/>
          </a:bodyPr>
          <a:lstStyle/>
          <a:p>
            <a:pPr algn="ctr">
              <a:lnSpc>
                <a:spcPts val="5600"/>
              </a:lnSpc>
            </a:pPr>
            <a:r>
              <a:rPr lang="en-US" sz="4000" b="true">
                <a:solidFill>
                  <a:srgbClr val="FFFFFF"/>
                </a:solidFill>
                <a:latin typeface="Noto Sans Bold"/>
                <a:ea typeface="Noto Sans Bold"/>
                <a:cs typeface="Noto Sans Bold"/>
                <a:sym typeface="Noto Sans Bold"/>
              </a:rPr>
              <a:t>G</a:t>
            </a:r>
            <a:r>
              <a:rPr lang="en-US" b="true" sz="4000">
                <a:solidFill>
                  <a:srgbClr val="FFFFFF"/>
                </a:solidFill>
                <a:latin typeface="Noto Sans Bold"/>
                <a:ea typeface="Noto Sans Bold"/>
                <a:cs typeface="Noto Sans Bold"/>
                <a:sym typeface="Noto Sans Bold"/>
              </a:rPr>
              <a:t>iao diện Langflow:</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1356E"/>
        </a:solidFill>
      </p:bgPr>
    </p:bg>
    <p:spTree>
      <p:nvGrpSpPr>
        <p:cNvPr id="1" name=""/>
        <p:cNvGrpSpPr/>
        <p:nvPr/>
      </p:nvGrpSpPr>
      <p:grpSpPr>
        <a:xfrm>
          <a:off x="0" y="0"/>
          <a:ext cx="0" cy="0"/>
          <a:chOff x="0" y="0"/>
          <a:chExt cx="0" cy="0"/>
        </a:xfrm>
      </p:grpSpPr>
      <p:sp>
        <p:nvSpPr>
          <p:cNvPr name="TextBox 2" id="2"/>
          <p:cNvSpPr txBox="true"/>
          <p:nvPr/>
        </p:nvSpPr>
        <p:spPr>
          <a:xfrm rot="0">
            <a:off x="1028700" y="1981200"/>
            <a:ext cx="8016944" cy="7277100"/>
          </a:xfrm>
          <a:prstGeom prst="rect">
            <a:avLst/>
          </a:prstGeom>
        </p:spPr>
        <p:txBody>
          <a:bodyPr anchor="t" rtlCol="false" tIns="0" lIns="0" bIns="0" rIns="0">
            <a:spAutoFit/>
          </a:bodyPr>
          <a:lstStyle/>
          <a:p>
            <a:pPr algn="l" marL="690881" indent="-345440" lvl="1">
              <a:lnSpc>
                <a:spcPts val="3840"/>
              </a:lnSpc>
              <a:spcBef>
                <a:spcPct val="0"/>
              </a:spcBef>
              <a:buFont typeface="Arial"/>
              <a:buChar char="•"/>
            </a:pPr>
            <a:r>
              <a:rPr lang="en-US" sz="3200" u="none">
                <a:solidFill>
                  <a:srgbClr val="FFFFFF"/>
                </a:solidFill>
                <a:latin typeface="Muli"/>
                <a:ea typeface="Muli"/>
                <a:cs typeface="Muli"/>
                <a:sym typeface="Muli"/>
              </a:rPr>
              <a:t>Thực trạng: Mỗi mùa tuyển sinh, bộ phận tư vấn TVU tiếp nhận hàng ngàn câu hỏi lặp đi lặp lại về điểm chuẩn, học phí, ngành học.</a:t>
            </a:r>
          </a:p>
          <a:p>
            <a:pPr algn="l" marL="690881" indent="-345440" lvl="1">
              <a:lnSpc>
                <a:spcPts val="3840"/>
              </a:lnSpc>
              <a:spcBef>
                <a:spcPct val="0"/>
              </a:spcBef>
              <a:buFont typeface="Arial"/>
              <a:buChar char="•"/>
            </a:pPr>
            <a:r>
              <a:rPr lang="en-US" sz="3200" u="none">
                <a:solidFill>
                  <a:srgbClr val="FFFFFF"/>
                </a:solidFill>
                <a:latin typeface="Muli"/>
                <a:ea typeface="Muli"/>
                <a:cs typeface="Muli"/>
                <a:sym typeface="Muli"/>
              </a:rPr>
              <a:t>Thách thức: Tư vấn viên con người khó đáp ứng 24/7 và có thể sai sót thông tin.</a:t>
            </a:r>
          </a:p>
          <a:p>
            <a:pPr algn="l" marL="690881" indent="-345440" lvl="1">
              <a:lnSpc>
                <a:spcPts val="3840"/>
              </a:lnSpc>
              <a:spcBef>
                <a:spcPct val="0"/>
              </a:spcBef>
              <a:buFont typeface="Arial"/>
              <a:buChar char="•"/>
            </a:pPr>
            <a:r>
              <a:rPr lang="en-US" sz="3200" u="none">
                <a:solidFill>
                  <a:srgbClr val="FFFFFF"/>
                </a:solidFill>
                <a:latin typeface="Muli"/>
                <a:ea typeface="Muli"/>
                <a:cs typeface="Muli"/>
                <a:sym typeface="Muli"/>
              </a:rPr>
              <a:t>Mục tiêu dự án:</a:t>
            </a:r>
          </a:p>
          <a:p>
            <a:pPr algn="l" marL="690881" indent="-345440" lvl="1">
              <a:lnSpc>
                <a:spcPts val="3840"/>
              </a:lnSpc>
              <a:spcBef>
                <a:spcPct val="0"/>
              </a:spcBef>
              <a:buFont typeface="Arial"/>
              <a:buChar char="•"/>
            </a:pPr>
            <a:r>
              <a:rPr lang="en-US" sz="3200" u="none">
                <a:solidFill>
                  <a:srgbClr val="FFFFFF"/>
                </a:solidFill>
                <a:latin typeface="Muli"/>
                <a:ea typeface="Muli"/>
                <a:cs typeface="Muli"/>
                <a:sym typeface="Muli"/>
              </a:rPr>
              <a:t>Tự động hóa quy trình tư vấn qua Chatbot AI.</a:t>
            </a:r>
          </a:p>
          <a:p>
            <a:pPr algn="l" marL="690881" indent="-345440" lvl="1">
              <a:lnSpc>
                <a:spcPts val="3840"/>
              </a:lnSpc>
              <a:spcBef>
                <a:spcPct val="0"/>
              </a:spcBef>
              <a:buFont typeface="Arial"/>
              <a:buChar char="•"/>
            </a:pPr>
            <a:r>
              <a:rPr lang="en-US" sz="3200" u="none">
                <a:solidFill>
                  <a:srgbClr val="FFFFFF"/>
                </a:solidFill>
                <a:latin typeface="Muli"/>
                <a:ea typeface="Muli"/>
                <a:cs typeface="Muli"/>
                <a:sym typeface="Muli"/>
              </a:rPr>
              <a:t>Sử dụng dữ liệu chính thống từ TVU để đảm bảo độ tin cậy.</a:t>
            </a:r>
          </a:p>
          <a:p>
            <a:pPr algn="l" marL="690881" indent="-345440" lvl="1">
              <a:lnSpc>
                <a:spcPts val="3840"/>
              </a:lnSpc>
              <a:spcBef>
                <a:spcPct val="0"/>
              </a:spcBef>
              <a:buFont typeface="Arial"/>
              <a:buChar char="•"/>
            </a:pPr>
            <a:r>
              <a:rPr lang="en-US" sz="3200" u="none">
                <a:solidFill>
                  <a:srgbClr val="FFFFFF"/>
                </a:solidFill>
                <a:latin typeface="Muli"/>
                <a:ea typeface="Muli"/>
                <a:cs typeface="Muli"/>
                <a:sym typeface="Muli"/>
              </a:rPr>
              <a:t>Triển khai hệ thống chạy cục bộ (Local) để bảo mật và tiết kiệm chi phí.</a:t>
            </a:r>
          </a:p>
          <a:p>
            <a:pPr algn="l" marL="0" indent="0" lvl="0">
              <a:lnSpc>
                <a:spcPts val="3840"/>
              </a:lnSpc>
              <a:spcBef>
                <a:spcPct val="0"/>
              </a:spcBef>
            </a:pPr>
          </a:p>
        </p:txBody>
      </p:sp>
      <p:sp>
        <p:nvSpPr>
          <p:cNvPr name="Freeform 3" id="3"/>
          <p:cNvSpPr/>
          <p:nvPr/>
        </p:nvSpPr>
        <p:spPr>
          <a:xfrm flipH="true" flipV="false" rot="0">
            <a:off x="7910023" y="0"/>
            <a:ext cx="10377977" cy="10377977"/>
          </a:xfrm>
          <a:custGeom>
            <a:avLst/>
            <a:gdLst/>
            <a:ahLst/>
            <a:cxnLst/>
            <a:rect r="r" b="b" t="t" l="l"/>
            <a:pathLst>
              <a:path h="10377977" w="10377977">
                <a:moveTo>
                  <a:pt x="10377977" y="0"/>
                </a:moveTo>
                <a:lnTo>
                  <a:pt x="0" y="0"/>
                </a:lnTo>
                <a:lnTo>
                  <a:pt x="0" y="10377977"/>
                </a:lnTo>
                <a:lnTo>
                  <a:pt x="10377977" y="10377977"/>
                </a:lnTo>
                <a:lnTo>
                  <a:pt x="1037797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843538" y="1298651"/>
            <a:ext cx="6510947" cy="7780674"/>
            <a:chOff x="0" y="0"/>
            <a:chExt cx="8681263" cy="10374232"/>
          </a:xfrm>
        </p:grpSpPr>
        <p:pic>
          <p:nvPicPr>
            <p:cNvPr name="Picture 5" id="5"/>
            <p:cNvPicPr>
              <a:picLocks noChangeAspect="true"/>
            </p:cNvPicPr>
            <p:nvPr/>
          </p:nvPicPr>
          <p:blipFill>
            <a:blip r:embed="rId4"/>
            <a:srcRect l="0" t="10166" r="0" b="10166"/>
            <a:stretch>
              <a:fillRect/>
            </a:stretch>
          </p:blipFill>
          <p:spPr>
            <a:xfrm flipH="false" flipV="false">
              <a:off x="0" y="0"/>
              <a:ext cx="8681263" cy="10374232"/>
            </a:xfrm>
            <a:prstGeom prst="rect">
              <a:avLst/>
            </a:prstGeom>
          </p:spPr>
        </p:pic>
      </p:grpSp>
      <p:sp>
        <p:nvSpPr>
          <p:cNvPr name="TextBox 6" id="6"/>
          <p:cNvSpPr txBox="true"/>
          <p:nvPr/>
        </p:nvSpPr>
        <p:spPr>
          <a:xfrm rot="0">
            <a:off x="1438267" y="831935"/>
            <a:ext cx="7197810" cy="923925"/>
          </a:xfrm>
          <a:prstGeom prst="rect">
            <a:avLst/>
          </a:prstGeom>
        </p:spPr>
        <p:txBody>
          <a:bodyPr anchor="t" rtlCol="false" tIns="0" lIns="0" bIns="0" rIns="0">
            <a:spAutoFit/>
          </a:bodyPr>
          <a:lstStyle/>
          <a:p>
            <a:pPr algn="l">
              <a:lnSpc>
                <a:spcPts val="7200"/>
              </a:lnSpc>
            </a:pPr>
            <a:r>
              <a:rPr lang="en-US" sz="6000">
                <a:solidFill>
                  <a:srgbClr val="FFFFFF"/>
                </a:solidFill>
                <a:latin typeface="Cabin"/>
                <a:ea typeface="Cabin"/>
                <a:cs typeface="Cabin"/>
                <a:sym typeface="Cabin"/>
              </a:rPr>
              <a:t>Đặ</a:t>
            </a:r>
            <a:r>
              <a:rPr lang="en-US" sz="6000">
                <a:solidFill>
                  <a:srgbClr val="FFFFFF"/>
                </a:solidFill>
                <a:latin typeface="Cabin"/>
                <a:ea typeface="Cabin"/>
                <a:cs typeface="Cabin"/>
                <a:sym typeface="Cabin"/>
              </a:rPr>
              <a:t>t vấn đề &amp; Mục tiêu</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1356E"/>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0" y="0"/>
            <a:ext cx="18288000" cy="10972800"/>
          </a:xfrm>
          <a:custGeom>
            <a:avLst/>
            <a:gdLst/>
            <a:ahLst/>
            <a:cxnLst/>
            <a:rect r="r" b="b" t="t" l="l"/>
            <a:pathLst>
              <a:path h="10972800" w="18288000">
                <a:moveTo>
                  <a:pt x="0" y="0"/>
                </a:moveTo>
                <a:lnTo>
                  <a:pt x="18288000" y="0"/>
                </a:lnTo>
                <a:lnTo>
                  <a:pt x="18288000" y="10972800"/>
                </a:lnTo>
                <a:lnTo>
                  <a:pt x="0" y="10972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2549237" y="9239250"/>
            <a:ext cx="13189525" cy="9525"/>
          </a:xfrm>
          <a:prstGeom prst="line">
            <a:avLst/>
          </a:prstGeom>
          <a:ln cap="rnd" w="19050">
            <a:solidFill>
              <a:srgbClr val="FFFFFF"/>
            </a:solidFill>
            <a:prstDash val="solid"/>
            <a:headEnd type="none" len="sm" w="sm"/>
            <a:tailEnd type="none" len="sm" w="sm"/>
          </a:ln>
        </p:spPr>
      </p:sp>
      <p:sp>
        <p:nvSpPr>
          <p:cNvPr name="TextBox 4" id="4"/>
          <p:cNvSpPr txBox="true"/>
          <p:nvPr/>
        </p:nvSpPr>
        <p:spPr>
          <a:xfrm rot="0">
            <a:off x="1509865" y="1718772"/>
            <a:ext cx="10599244" cy="923925"/>
          </a:xfrm>
          <a:prstGeom prst="rect">
            <a:avLst/>
          </a:prstGeom>
        </p:spPr>
        <p:txBody>
          <a:bodyPr anchor="t" rtlCol="false" tIns="0" lIns="0" bIns="0" rIns="0">
            <a:spAutoFit/>
          </a:bodyPr>
          <a:lstStyle/>
          <a:p>
            <a:pPr algn="l">
              <a:lnSpc>
                <a:spcPts val="7200"/>
              </a:lnSpc>
            </a:pPr>
            <a:r>
              <a:rPr lang="en-US" sz="6000">
                <a:solidFill>
                  <a:srgbClr val="FFFFFF"/>
                </a:solidFill>
                <a:latin typeface="Cabin"/>
                <a:ea typeface="Cabin"/>
                <a:cs typeface="Cabin"/>
                <a:sym typeface="Cabin"/>
              </a:rPr>
              <a:t>Tổng</a:t>
            </a:r>
            <a:r>
              <a:rPr lang="en-US" sz="6000">
                <a:solidFill>
                  <a:srgbClr val="FFFFFF"/>
                </a:solidFill>
                <a:latin typeface="Cabin"/>
                <a:ea typeface="Cabin"/>
                <a:cs typeface="Cabin"/>
                <a:sym typeface="Cabin"/>
              </a:rPr>
              <a:t> quan công nghệ sử dụng</a:t>
            </a:r>
          </a:p>
        </p:txBody>
      </p:sp>
      <p:sp>
        <p:nvSpPr>
          <p:cNvPr name="TextBox 5" id="5"/>
          <p:cNvSpPr txBox="true"/>
          <p:nvPr/>
        </p:nvSpPr>
        <p:spPr>
          <a:xfrm rot="0">
            <a:off x="1028700" y="3374141"/>
            <a:ext cx="16230600" cy="4181475"/>
          </a:xfrm>
          <a:prstGeom prst="rect">
            <a:avLst/>
          </a:prstGeom>
        </p:spPr>
        <p:txBody>
          <a:bodyPr anchor="t" rtlCol="false" tIns="0" lIns="0" bIns="0" rIns="0">
            <a:spAutoFit/>
          </a:bodyPr>
          <a:lstStyle/>
          <a:p>
            <a:pPr algn="l" marL="755649" indent="-377824" lvl="1">
              <a:lnSpc>
                <a:spcPts val="4199"/>
              </a:lnSpc>
              <a:spcBef>
                <a:spcPct val="0"/>
              </a:spcBef>
              <a:buFont typeface="Arial"/>
              <a:buChar char="•"/>
            </a:pPr>
            <a:r>
              <a:rPr lang="en-US" sz="3499">
                <a:solidFill>
                  <a:srgbClr val="FFFFFF"/>
                </a:solidFill>
                <a:latin typeface="Muli"/>
                <a:ea typeface="Muli"/>
                <a:cs typeface="Muli"/>
                <a:sym typeface="Muli"/>
              </a:rPr>
              <a:t>La</a:t>
            </a:r>
            <a:r>
              <a:rPr lang="en-US" sz="3499" u="none">
                <a:solidFill>
                  <a:srgbClr val="FFFFFF"/>
                </a:solidFill>
                <a:latin typeface="Muli"/>
                <a:ea typeface="Muli"/>
                <a:cs typeface="Muli"/>
                <a:sym typeface="Muli"/>
              </a:rPr>
              <a:t>ngflow: Công cụ GUI (kéo thả) để thiết kế luồng xử lý AI (Low-code).</a:t>
            </a:r>
          </a:p>
          <a:p>
            <a:pPr algn="l" marL="755649" indent="-377824" lvl="1">
              <a:lnSpc>
                <a:spcPts val="4199"/>
              </a:lnSpc>
              <a:spcBef>
                <a:spcPct val="0"/>
              </a:spcBef>
              <a:buFont typeface="Arial"/>
              <a:buChar char="•"/>
            </a:pPr>
            <a:r>
              <a:rPr lang="en-US" sz="3499" u="none">
                <a:solidFill>
                  <a:srgbClr val="FFFFFF"/>
                </a:solidFill>
                <a:latin typeface="Muli"/>
                <a:ea typeface="Muli"/>
                <a:cs typeface="Muli"/>
                <a:sym typeface="Muli"/>
              </a:rPr>
              <a:t>Ollama: Nền tảng chạy các mô hình ngôn ngữ lớn (LLM) như qwen ngay trên máy tính cá nhân.</a:t>
            </a:r>
          </a:p>
          <a:p>
            <a:pPr algn="l" marL="755649" indent="-377824" lvl="1">
              <a:lnSpc>
                <a:spcPts val="4199"/>
              </a:lnSpc>
              <a:spcBef>
                <a:spcPct val="0"/>
              </a:spcBef>
              <a:buFont typeface="Arial"/>
              <a:buChar char="•"/>
            </a:pPr>
            <a:r>
              <a:rPr lang="en-US" sz="3499" u="none">
                <a:solidFill>
                  <a:srgbClr val="FFFFFF"/>
                </a:solidFill>
                <a:latin typeface="Muli"/>
                <a:ea typeface="Muli"/>
                <a:cs typeface="Muli"/>
                <a:sym typeface="Muli"/>
              </a:rPr>
              <a:t>Kỹ thuật RAG (Retrieval-Augmented Generation): Cung cấp "sách giáo khoa" (dữ liệu TVU) cho AI đọc trước khi trả lời.</a:t>
            </a:r>
          </a:p>
          <a:p>
            <a:pPr algn="l" marL="755649" indent="-377824" lvl="1">
              <a:lnSpc>
                <a:spcPts val="4199"/>
              </a:lnSpc>
              <a:spcBef>
                <a:spcPct val="0"/>
              </a:spcBef>
              <a:buFont typeface="Arial"/>
              <a:buChar char="•"/>
            </a:pPr>
            <a:r>
              <a:rPr lang="en-US" sz="3499" u="none">
                <a:solidFill>
                  <a:srgbClr val="FFFFFF"/>
                </a:solidFill>
                <a:latin typeface="Muli"/>
                <a:ea typeface="Muli"/>
                <a:cs typeface="Muli"/>
                <a:sym typeface="Muli"/>
              </a:rPr>
              <a:t>St</a:t>
            </a:r>
            <a:r>
              <a:rPr lang="en-US" sz="3499" u="none">
                <a:solidFill>
                  <a:srgbClr val="FFFFFF"/>
                </a:solidFill>
                <a:latin typeface="Muli"/>
                <a:ea typeface="Muli"/>
                <a:cs typeface="Muli"/>
                <a:sym typeface="Muli"/>
              </a:rPr>
              <a:t>reamlit: Thư viện Python để tạo giao diện Web nhanh chóng cho người dùng cuối.</a:t>
            </a:r>
          </a:p>
          <a:p>
            <a:pPr algn="l" marL="0" indent="0" lvl="0">
              <a:lnSpc>
                <a:spcPts val="419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31356E"/>
        </a:solidFill>
      </p:bgPr>
    </p:bg>
    <p:spTree>
      <p:nvGrpSpPr>
        <p:cNvPr id="1" name=""/>
        <p:cNvGrpSpPr/>
        <p:nvPr/>
      </p:nvGrpSpPr>
      <p:grpSpPr>
        <a:xfrm>
          <a:off x="0" y="0"/>
          <a:ext cx="0" cy="0"/>
          <a:chOff x="0" y="0"/>
          <a:chExt cx="0" cy="0"/>
        </a:xfrm>
      </p:grpSpPr>
      <p:sp>
        <p:nvSpPr>
          <p:cNvPr name="TextBox 2" id="2"/>
          <p:cNvSpPr txBox="true"/>
          <p:nvPr/>
        </p:nvSpPr>
        <p:spPr>
          <a:xfrm rot="0">
            <a:off x="1028700" y="1299103"/>
            <a:ext cx="9883408" cy="923925"/>
          </a:xfrm>
          <a:prstGeom prst="rect">
            <a:avLst/>
          </a:prstGeom>
        </p:spPr>
        <p:txBody>
          <a:bodyPr anchor="t" rtlCol="false" tIns="0" lIns="0" bIns="0" rIns="0">
            <a:spAutoFit/>
          </a:bodyPr>
          <a:lstStyle/>
          <a:p>
            <a:pPr algn="l">
              <a:lnSpc>
                <a:spcPts val="7200"/>
              </a:lnSpc>
            </a:pPr>
            <a:r>
              <a:rPr lang="en-US" sz="6000">
                <a:solidFill>
                  <a:srgbClr val="FFFFFF"/>
                </a:solidFill>
                <a:latin typeface="Cabin"/>
                <a:ea typeface="Cabin"/>
                <a:cs typeface="Cabin"/>
                <a:sym typeface="Cabin"/>
              </a:rPr>
              <a:t>Th</a:t>
            </a:r>
            <a:r>
              <a:rPr lang="en-US" sz="6000">
                <a:solidFill>
                  <a:srgbClr val="FFFFFF"/>
                </a:solidFill>
                <a:latin typeface="Cabin"/>
                <a:ea typeface="Cabin"/>
                <a:cs typeface="Cabin"/>
                <a:sym typeface="Cabin"/>
              </a:rPr>
              <a:t>u thập và Xử lý Tập tri thức</a:t>
            </a:r>
          </a:p>
        </p:txBody>
      </p:sp>
      <p:sp>
        <p:nvSpPr>
          <p:cNvPr name="TextBox 3" id="3"/>
          <p:cNvSpPr txBox="true"/>
          <p:nvPr/>
        </p:nvSpPr>
        <p:spPr>
          <a:xfrm rot="0">
            <a:off x="1028700" y="3126985"/>
            <a:ext cx="16230600" cy="4267200"/>
          </a:xfrm>
          <a:prstGeom prst="rect">
            <a:avLst/>
          </a:prstGeom>
        </p:spPr>
        <p:txBody>
          <a:bodyPr anchor="t" rtlCol="false" tIns="0" lIns="0" bIns="0" rIns="0">
            <a:spAutoFit/>
          </a:bodyPr>
          <a:lstStyle/>
          <a:p>
            <a:pPr algn="l">
              <a:lnSpc>
                <a:spcPts val="4200"/>
              </a:lnSpc>
            </a:pPr>
            <a:r>
              <a:rPr lang="en-US" sz="3500">
                <a:solidFill>
                  <a:srgbClr val="FFFFFF"/>
                </a:solidFill>
                <a:latin typeface="Muli"/>
                <a:ea typeface="Muli"/>
                <a:cs typeface="Muli"/>
                <a:sym typeface="Muli"/>
              </a:rPr>
              <a:t>Nguồn dữ liệu:</a:t>
            </a:r>
          </a:p>
          <a:p>
            <a:pPr algn="l" marL="755651" indent="-377825" lvl="1">
              <a:lnSpc>
                <a:spcPts val="4200"/>
              </a:lnSpc>
              <a:buFont typeface="Arial"/>
              <a:buChar char="•"/>
            </a:pPr>
            <a:r>
              <a:rPr lang="en-US" sz="3500">
                <a:solidFill>
                  <a:srgbClr val="FFFFFF"/>
                </a:solidFill>
                <a:latin typeface="Muli"/>
                <a:ea typeface="Muli"/>
                <a:cs typeface="Muli"/>
                <a:sym typeface="Muli"/>
              </a:rPr>
              <a:t>Website tuyển sinh TVU (tuyensinh.tvu.edu.vn).</a:t>
            </a:r>
          </a:p>
          <a:p>
            <a:pPr algn="l" marL="755651" indent="-377825" lvl="1">
              <a:lnSpc>
                <a:spcPts val="4200"/>
              </a:lnSpc>
              <a:buFont typeface="Arial"/>
              <a:buChar char="•"/>
            </a:pPr>
            <a:r>
              <a:rPr lang="en-US" sz="3500">
                <a:solidFill>
                  <a:srgbClr val="FFFFFF"/>
                </a:solidFill>
                <a:latin typeface="Muli"/>
                <a:ea typeface="Muli"/>
                <a:cs typeface="Muli"/>
                <a:sym typeface="Muli"/>
              </a:rPr>
              <a:t>Quy định đào tạo.</a:t>
            </a:r>
          </a:p>
          <a:p>
            <a:pPr algn="l" marL="755651" indent="-377825" lvl="1">
              <a:lnSpc>
                <a:spcPts val="4200"/>
              </a:lnSpc>
              <a:buFont typeface="Arial"/>
              <a:buChar char="•"/>
            </a:pPr>
            <a:r>
              <a:rPr lang="en-US" sz="3500">
                <a:solidFill>
                  <a:srgbClr val="FFFFFF"/>
                </a:solidFill>
                <a:latin typeface="Muli"/>
                <a:ea typeface="Muli"/>
                <a:cs typeface="Muli"/>
                <a:sym typeface="Muli"/>
              </a:rPr>
              <a:t>Định dạng: Chuyển đổi toàn bộ sang file .pdf hoặc .txt. ( em đang dùng file .txt)</a:t>
            </a:r>
          </a:p>
          <a:p>
            <a:pPr algn="l" marL="755651" indent="-377825" lvl="1">
              <a:lnSpc>
                <a:spcPts val="4200"/>
              </a:lnSpc>
              <a:buFont typeface="Arial"/>
              <a:buChar char="•"/>
            </a:pPr>
            <a:r>
              <a:rPr lang="en-US" sz="3500">
                <a:solidFill>
                  <a:srgbClr val="FFFFFF"/>
                </a:solidFill>
                <a:latin typeface="Muli"/>
                <a:ea typeface="Muli"/>
                <a:cs typeface="Muli"/>
                <a:sym typeface="Muli"/>
              </a:rPr>
              <a:t>Xử lý: Chia nhỏ văn bản (Text Splitting) để AI dễ dàng tìm kiếm thông tin cục bộ.</a:t>
            </a:r>
          </a:p>
          <a:p>
            <a:pPr algn="l">
              <a:lnSpc>
                <a:spcPts val="4200"/>
              </a:lnSpc>
            </a:pPr>
          </a:p>
        </p:txBody>
      </p:sp>
      <p:sp>
        <p:nvSpPr>
          <p:cNvPr name="AutoShape 4" id="4"/>
          <p:cNvSpPr/>
          <p:nvPr/>
        </p:nvSpPr>
        <p:spPr>
          <a:xfrm>
            <a:off x="5360046" y="7440892"/>
            <a:ext cx="7567908" cy="0"/>
          </a:xfrm>
          <a:prstGeom prst="line">
            <a:avLst/>
          </a:prstGeom>
          <a:ln cap="flat" w="19050">
            <a:solidFill>
              <a:srgbClr val="FFFFFF"/>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1356E"/>
        </a:solidFill>
      </p:bgPr>
    </p:bg>
    <p:spTree>
      <p:nvGrpSpPr>
        <p:cNvPr id="1" name=""/>
        <p:cNvGrpSpPr/>
        <p:nvPr/>
      </p:nvGrpSpPr>
      <p:grpSpPr>
        <a:xfrm>
          <a:off x="0" y="0"/>
          <a:ext cx="0" cy="0"/>
          <a:chOff x="0" y="0"/>
          <a:chExt cx="0" cy="0"/>
        </a:xfrm>
      </p:grpSpPr>
      <p:sp>
        <p:nvSpPr>
          <p:cNvPr name="TextBox 2" id="2"/>
          <p:cNvSpPr txBox="true"/>
          <p:nvPr/>
        </p:nvSpPr>
        <p:spPr>
          <a:xfrm rot="0">
            <a:off x="1028700" y="3483771"/>
            <a:ext cx="16230600" cy="4181475"/>
          </a:xfrm>
          <a:prstGeom prst="rect">
            <a:avLst/>
          </a:prstGeom>
        </p:spPr>
        <p:txBody>
          <a:bodyPr anchor="t" rtlCol="false" tIns="0" lIns="0" bIns="0" rIns="0">
            <a:spAutoFit/>
          </a:bodyPr>
          <a:lstStyle/>
          <a:p>
            <a:pPr algn="l">
              <a:lnSpc>
                <a:spcPts val="4199"/>
              </a:lnSpc>
              <a:spcBef>
                <a:spcPct val="0"/>
              </a:spcBef>
            </a:pPr>
            <a:r>
              <a:rPr lang="en-US" sz="3499">
                <a:solidFill>
                  <a:srgbClr val="FFFFFF"/>
                </a:solidFill>
                <a:latin typeface="Muli"/>
                <a:ea typeface="Muli"/>
                <a:cs typeface="Muli"/>
                <a:sym typeface="Muli"/>
              </a:rPr>
              <a:t>Các t</a:t>
            </a:r>
            <a:r>
              <a:rPr lang="en-US" sz="3499" u="none">
                <a:solidFill>
                  <a:srgbClr val="FFFFFF"/>
                </a:solidFill>
                <a:latin typeface="Muli"/>
                <a:ea typeface="Muli"/>
                <a:cs typeface="Muli"/>
                <a:sym typeface="Muli"/>
              </a:rPr>
              <a:t>hành phần chính trong luồng:</a:t>
            </a:r>
          </a:p>
          <a:p>
            <a:pPr algn="l" marL="755649" indent="-377824" lvl="1">
              <a:lnSpc>
                <a:spcPts val="4199"/>
              </a:lnSpc>
              <a:spcBef>
                <a:spcPct val="0"/>
              </a:spcBef>
              <a:buFont typeface="Arial"/>
              <a:buChar char="•"/>
            </a:pPr>
            <a:r>
              <a:rPr lang="en-US" sz="3499" u="none">
                <a:solidFill>
                  <a:srgbClr val="FFFFFF"/>
                </a:solidFill>
                <a:latin typeface="Muli"/>
                <a:ea typeface="Muli"/>
                <a:cs typeface="Muli"/>
                <a:sym typeface="Muli"/>
              </a:rPr>
              <a:t>File Loader: Nạp tài liệu tuyển sinh TVU.</a:t>
            </a:r>
          </a:p>
          <a:p>
            <a:pPr algn="l" marL="755649" indent="-377824" lvl="1">
              <a:lnSpc>
                <a:spcPts val="4199"/>
              </a:lnSpc>
              <a:spcBef>
                <a:spcPct val="0"/>
              </a:spcBef>
              <a:buFont typeface="Arial"/>
              <a:buChar char="•"/>
            </a:pPr>
            <a:r>
              <a:rPr lang="en-US" sz="3499" u="none">
                <a:solidFill>
                  <a:srgbClr val="FFFFFF"/>
                </a:solidFill>
                <a:latin typeface="Muli"/>
                <a:ea typeface="Muli"/>
                <a:cs typeface="Muli"/>
                <a:sym typeface="Muli"/>
              </a:rPr>
              <a:t>Embedding Model: Chuyển văn bản thành dạng số (Vector) để máy tính hiểu.</a:t>
            </a:r>
          </a:p>
          <a:p>
            <a:pPr algn="l" marL="755649" indent="-377824" lvl="1">
              <a:lnSpc>
                <a:spcPts val="4199"/>
              </a:lnSpc>
              <a:spcBef>
                <a:spcPct val="0"/>
              </a:spcBef>
              <a:buFont typeface="Arial"/>
              <a:buChar char="•"/>
            </a:pPr>
            <a:r>
              <a:rPr lang="en-US" sz="3499" u="none">
                <a:solidFill>
                  <a:srgbClr val="FFFFFF"/>
                </a:solidFill>
                <a:latin typeface="Muli"/>
                <a:ea typeface="Muli"/>
                <a:cs typeface="Muli"/>
                <a:sym typeface="Muli"/>
              </a:rPr>
              <a:t>Chat Input &amp; Prompt: Tiếp nhận câu hỏi và hướng dẫn AI (Ví dụ: "Bạn là chuyên gia tư vấn tuyển sinh TVU...").</a:t>
            </a:r>
          </a:p>
          <a:p>
            <a:pPr algn="l" marL="755649" indent="-377824" lvl="1">
              <a:lnSpc>
                <a:spcPts val="4199"/>
              </a:lnSpc>
              <a:spcBef>
                <a:spcPct val="0"/>
              </a:spcBef>
              <a:buFont typeface="Arial"/>
              <a:buChar char="•"/>
            </a:pPr>
            <a:r>
              <a:rPr lang="en-US" sz="3499" u="none">
                <a:solidFill>
                  <a:srgbClr val="FFFFFF"/>
                </a:solidFill>
                <a:latin typeface="Muli"/>
                <a:ea typeface="Muli"/>
                <a:cs typeface="Muli"/>
                <a:sym typeface="Muli"/>
              </a:rPr>
              <a:t>Ollama Model Node: Kết nối trực tiếp với mô hình Qwen2.5 qua API cục bộ.</a:t>
            </a:r>
          </a:p>
          <a:p>
            <a:pPr algn="l" marL="0" indent="0" lvl="0">
              <a:lnSpc>
                <a:spcPts val="4199"/>
              </a:lnSpc>
              <a:spcBef>
                <a:spcPct val="0"/>
              </a:spcBef>
            </a:pPr>
          </a:p>
        </p:txBody>
      </p:sp>
      <p:sp>
        <p:nvSpPr>
          <p:cNvPr name="Freeform 3" id="3"/>
          <p:cNvSpPr/>
          <p:nvPr/>
        </p:nvSpPr>
        <p:spPr>
          <a:xfrm flipH="true" flipV="false" rot="0">
            <a:off x="7910023" y="0"/>
            <a:ext cx="10377977" cy="10377977"/>
          </a:xfrm>
          <a:custGeom>
            <a:avLst/>
            <a:gdLst/>
            <a:ahLst/>
            <a:cxnLst/>
            <a:rect r="r" b="b" t="t" l="l"/>
            <a:pathLst>
              <a:path h="10377977" w="10377977">
                <a:moveTo>
                  <a:pt x="10377977" y="0"/>
                </a:moveTo>
                <a:lnTo>
                  <a:pt x="0" y="0"/>
                </a:lnTo>
                <a:lnTo>
                  <a:pt x="0" y="10377977"/>
                </a:lnTo>
                <a:lnTo>
                  <a:pt x="10377977" y="10377977"/>
                </a:lnTo>
                <a:lnTo>
                  <a:pt x="1037797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831935"/>
            <a:ext cx="16230600" cy="1838325"/>
          </a:xfrm>
          <a:prstGeom prst="rect">
            <a:avLst/>
          </a:prstGeom>
        </p:spPr>
        <p:txBody>
          <a:bodyPr anchor="t" rtlCol="false" tIns="0" lIns="0" bIns="0" rIns="0">
            <a:spAutoFit/>
          </a:bodyPr>
          <a:lstStyle/>
          <a:p>
            <a:pPr algn="l">
              <a:lnSpc>
                <a:spcPts val="7200"/>
              </a:lnSpc>
            </a:pPr>
            <a:r>
              <a:rPr lang="en-US" sz="6000">
                <a:solidFill>
                  <a:srgbClr val="FFFFFF"/>
                </a:solidFill>
                <a:latin typeface="Cabin"/>
                <a:ea typeface="Cabin"/>
                <a:cs typeface="Cabin"/>
                <a:sym typeface="Cabin"/>
              </a:rPr>
              <a:t>Thiế</a:t>
            </a:r>
            <a:r>
              <a:rPr lang="en-US" sz="6000">
                <a:solidFill>
                  <a:srgbClr val="FFFFFF"/>
                </a:solidFill>
                <a:latin typeface="Cabin"/>
                <a:ea typeface="Cabin"/>
                <a:cs typeface="Cabin"/>
                <a:sym typeface="Cabin"/>
              </a:rPr>
              <a:t>t kế Pipeline trên Langflow (Trái tim của hệ thống)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1356E"/>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0" y="0"/>
            <a:ext cx="18288000" cy="10972800"/>
          </a:xfrm>
          <a:custGeom>
            <a:avLst/>
            <a:gdLst/>
            <a:ahLst/>
            <a:cxnLst/>
            <a:rect r="r" b="b" t="t" l="l"/>
            <a:pathLst>
              <a:path h="10972800" w="18288000">
                <a:moveTo>
                  <a:pt x="0" y="0"/>
                </a:moveTo>
                <a:lnTo>
                  <a:pt x="18288000" y="0"/>
                </a:lnTo>
                <a:lnTo>
                  <a:pt x="18288000" y="10972800"/>
                </a:lnTo>
                <a:lnTo>
                  <a:pt x="0" y="10972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2482">
            <a:off x="1028698" y="7952015"/>
            <a:ext cx="13189529" cy="0"/>
          </a:xfrm>
          <a:prstGeom prst="line">
            <a:avLst/>
          </a:prstGeom>
          <a:ln cap="rnd" w="19050">
            <a:solidFill>
              <a:srgbClr val="FFFFFF"/>
            </a:solidFill>
            <a:prstDash val="solid"/>
            <a:headEnd type="none" len="sm" w="sm"/>
            <a:tailEnd type="none" len="sm" w="sm"/>
          </a:ln>
        </p:spPr>
      </p:sp>
      <p:grpSp>
        <p:nvGrpSpPr>
          <p:cNvPr name="Group 4" id="4"/>
          <p:cNvGrpSpPr/>
          <p:nvPr/>
        </p:nvGrpSpPr>
        <p:grpSpPr>
          <a:xfrm rot="0">
            <a:off x="5317258" y="7785328"/>
            <a:ext cx="323850" cy="323850"/>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name="Group 6" id="6"/>
          <p:cNvGrpSpPr/>
          <p:nvPr/>
        </p:nvGrpSpPr>
        <p:grpSpPr>
          <a:xfrm rot="0">
            <a:off x="1028700" y="7785328"/>
            <a:ext cx="323850" cy="323850"/>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name="Group 8" id="8"/>
          <p:cNvGrpSpPr/>
          <p:nvPr/>
        </p:nvGrpSpPr>
        <p:grpSpPr>
          <a:xfrm rot="0">
            <a:off x="9605817" y="7785328"/>
            <a:ext cx="323850" cy="323850"/>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name="Group 10" id="10"/>
          <p:cNvGrpSpPr/>
          <p:nvPr/>
        </p:nvGrpSpPr>
        <p:grpSpPr>
          <a:xfrm rot="0">
            <a:off x="14056300" y="7804378"/>
            <a:ext cx="323850" cy="323850"/>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sp>
        <p:nvSpPr>
          <p:cNvPr name="TextBox 12" id="12"/>
          <p:cNvSpPr txBox="true"/>
          <p:nvPr/>
        </p:nvSpPr>
        <p:spPr>
          <a:xfrm rot="0">
            <a:off x="1028700" y="1942938"/>
            <a:ext cx="10599244" cy="923925"/>
          </a:xfrm>
          <a:prstGeom prst="rect">
            <a:avLst/>
          </a:prstGeom>
        </p:spPr>
        <p:txBody>
          <a:bodyPr anchor="t" rtlCol="false" tIns="0" lIns="0" bIns="0" rIns="0">
            <a:spAutoFit/>
          </a:bodyPr>
          <a:lstStyle/>
          <a:p>
            <a:pPr algn="l">
              <a:lnSpc>
                <a:spcPts val="7200"/>
              </a:lnSpc>
            </a:pPr>
            <a:r>
              <a:rPr lang="en-US" sz="6000">
                <a:solidFill>
                  <a:srgbClr val="FFFFFF"/>
                </a:solidFill>
                <a:latin typeface="Cabin"/>
                <a:ea typeface="Cabin"/>
                <a:cs typeface="Cabin"/>
                <a:sym typeface="Cabin"/>
              </a:rPr>
              <a:t>Cơ</a:t>
            </a:r>
            <a:r>
              <a:rPr lang="en-US" sz="6000">
                <a:solidFill>
                  <a:srgbClr val="FFFFFF"/>
                </a:solidFill>
                <a:latin typeface="Cabin"/>
                <a:ea typeface="Cabin"/>
                <a:cs typeface="Cabin"/>
                <a:sym typeface="Cabin"/>
              </a:rPr>
              <a:t> chế hoạt động của Pipeline</a:t>
            </a:r>
          </a:p>
        </p:txBody>
      </p:sp>
      <p:sp>
        <p:nvSpPr>
          <p:cNvPr name="TextBox 13" id="13"/>
          <p:cNvSpPr txBox="true"/>
          <p:nvPr/>
        </p:nvSpPr>
        <p:spPr>
          <a:xfrm rot="0">
            <a:off x="1123511" y="3523994"/>
            <a:ext cx="3364925" cy="476250"/>
          </a:xfrm>
          <a:prstGeom prst="rect">
            <a:avLst/>
          </a:prstGeom>
        </p:spPr>
        <p:txBody>
          <a:bodyPr anchor="t" rtlCol="false" tIns="0" lIns="0" bIns="0" rIns="0">
            <a:spAutoFit/>
          </a:bodyPr>
          <a:lstStyle/>
          <a:p>
            <a:pPr algn="l" marL="0" indent="0" lvl="0">
              <a:lnSpc>
                <a:spcPts val="3840"/>
              </a:lnSpc>
              <a:spcBef>
                <a:spcPct val="0"/>
              </a:spcBef>
            </a:pPr>
            <a:r>
              <a:rPr lang="en-US" sz="3200">
                <a:solidFill>
                  <a:srgbClr val="FFFFFF"/>
                </a:solidFill>
                <a:latin typeface="Muli"/>
                <a:ea typeface="Muli"/>
                <a:cs typeface="Muli"/>
                <a:sym typeface="Muli"/>
              </a:rPr>
              <a:t>Bước 1</a:t>
            </a:r>
          </a:p>
        </p:txBody>
      </p:sp>
      <p:sp>
        <p:nvSpPr>
          <p:cNvPr name="TextBox 14" id="14"/>
          <p:cNvSpPr txBox="true"/>
          <p:nvPr/>
        </p:nvSpPr>
        <p:spPr>
          <a:xfrm rot="0">
            <a:off x="918510" y="4610042"/>
            <a:ext cx="3569926" cy="1099185"/>
          </a:xfrm>
          <a:prstGeom prst="rect">
            <a:avLst/>
          </a:prstGeom>
        </p:spPr>
        <p:txBody>
          <a:bodyPr anchor="t" rtlCol="false" tIns="0" lIns="0" bIns="0" rIns="0">
            <a:spAutoFit/>
          </a:bodyPr>
          <a:lstStyle/>
          <a:p>
            <a:pPr algn="l">
              <a:lnSpc>
                <a:spcPts val="2940"/>
              </a:lnSpc>
            </a:pPr>
            <a:r>
              <a:rPr lang="en-US" sz="2100">
                <a:solidFill>
                  <a:srgbClr val="FFFFFF"/>
                </a:solidFill>
                <a:latin typeface="Muli"/>
                <a:ea typeface="Muli"/>
                <a:cs typeface="Muli"/>
                <a:sym typeface="Muli"/>
              </a:rPr>
              <a:t>Người dùng hỏi: "Chuẩn đầu ra của ngành công nghệ thông tin?"</a:t>
            </a:r>
          </a:p>
        </p:txBody>
      </p:sp>
      <p:sp>
        <p:nvSpPr>
          <p:cNvPr name="TextBox 15" id="15"/>
          <p:cNvSpPr txBox="true"/>
          <p:nvPr/>
        </p:nvSpPr>
        <p:spPr>
          <a:xfrm rot="0">
            <a:off x="5317258" y="3523994"/>
            <a:ext cx="3364925" cy="476250"/>
          </a:xfrm>
          <a:prstGeom prst="rect">
            <a:avLst/>
          </a:prstGeom>
        </p:spPr>
        <p:txBody>
          <a:bodyPr anchor="t" rtlCol="false" tIns="0" lIns="0" bIns="0" rIns="0">
            <a:spAutoFit/>
          </a:bodyPr>
          <a:lstStyle/>
          <a:p>
            <a:pPr algn="l" marL="0" indent="0" lvl="0">
              <a:lnSpc>
                <a:spcPts val="3840"/>
              </a:lnSpc>
              <a:spcBef>
                <a:spcPct val="0"/>
              </a:spcBef>
            </a:pPr>
            <a:r>
              <a:rPr lang="en-US" sz="3200">
                <a:solidFill>
                  <a:srgbClr val="FFFFFF"/>
                </a:solidFill>
                <a:latin typeface="Muli"/>
                <a:ea typeface="Muli"/>
                <a:cs typeface="Muli"/>
                <a:sym typeface="Muli"/>
              </a:rPr>
              <a:t>Bước 2</a:t>
            </a:r>
          </a:p>
        </p:txBody>
      </p:sp>
      <p:sp>
        <p:nvSpPr>
          <p:cNvPr name="TextBox 16" id="16"/>
          <p:cNvSpPr txBox="true"/>
          <p:nvPr/>
        </p:nvSpPr>
        <p:spPr>
          <a:xfrm rot="0">
            <a:off x="4908838" y="4610042"/>
            <a:ext cx="3487925" cy="1842135"/>
          </a:xfrm>
          <a:prstGeom prst="rect">
            <a:avLst/>
          </a:prstGeom>
        </p:spPr>
        <p:txBody>
          <a:bodyPr anchor="t" rtlCol="false" tIns="0" lIns="0" bIns="0" rIns="0">
            <a:spAutoFit/>
          </a:bodyPr>
          <a:lstStyle/>
          <a:p>
            <a:pPr algn="l">
              <a:lnSpc>
                <a:spcPts val="2940"/>
              </a:lnSpc>
            </a:pPr>
            <a:r>
              <a:rPr lang="en-US" sz="2100">
                <a:solidFill>
                  <a:srgbClr val="FFFFFF"/>
                </a:solidFill>
                <a:latin typeface="Muli"/>
                <a:ea typeface="Muli"/>
                <a:cs typeface="Muli"/>
                <a:sym typeface="Muli"/>
              </a:rPr>
              <a:t>Hệ thống lục tìm trong tập hồ sơ TVU đã nạp để tìm đoạn văn bản chứa "Chuẩn đầu ra của ngành công nghệ thông tin"</a:t>
            </a:r>
          </a:p>
        </p:txBody>
      </p:sp>
      <p:sp>
        <p:nvSpPr>
          <p:cNvPr name="TextBox 17" id="17"/>
          <p:cNvSpPr txBox="true"/>
          <p:nvPr/>
        </p:nvSpPr>
        <p:spPr>
          <a:xfrm rot="0">
            <a:off x="9767742" y="3523994"/>
            <a:ext cx="3364925" cy="476250"/>
          </a:xfrm>
          <a:prstGeom prst="rect">
            <a:avLst/>
          </a:prstGeom>
        </p:spPr>
        <p:txBody>
          <a:bodyPr anchor="t" rtlCol="false" tIns="0" lIns="0" bIns="0" rIns="0">
            <a:spAutoFit/>
          </a:bodyPr>
          <a:lstStyle/>
          <a:p>
            <a:pPr algn="l" marL="0" indent="0" lvl="0">
              <a:lnSpc>
                <a:spcPts val="3840"/>
              </a:lnSpc>
              <a:spcBef>
                <a:spcPct val="0"/>
              </a:spcBef>
            </a:pPr>
            <a:r>
              <a:rPr lang="en-US" sz="3200">
                <a:solidFill>
                  <a:srgbClr val="FFFFFF"/>
                </a:solidFill>
                <a:latin typeface="Muli"/>
                <a:ea typeface="Muli"/>
                <a:cs typeface="Muli"/>
                <a:sym typeface="Muli"/>
              </a:rPr>
              <a:t>Bước</a:t>
            </a:r>
            <a:r>
              <a:rPr lang="en-US" sz="3200">
                <a:solidFill>
                  <a:srgbClr val="FFFFFF"/>
                </a:solidFill>
                <a:latin typeface="Muli"/>
                <a:ea typeface="Muli"/>
                <a:cs typeface="Muli"/>
                <a:sym typeface="Muli"/>
              </a:rPr>
              <a:t> 3</a:t>
            </a:r>
          </a:p>
        </p:txBody>
      </p:sp>
      <p:sp>
        <p:nvSpPr>
          <p:cNvPr name="TextBox 18" id="18"/>
          <p:cNvSpPr txBox="true"/>
          <p:nvPr/>
        </p:nvSpPr>
        <p:spPr>
          <a:xfrm rot="0">
            <a:off x="9144000" y="4610042"/>
            <a:ext cx="3487925" cy="727710"/>
          </a:xfrm>
          <a:prstGeom prst="rect">
            <a:avLst/>
          </a:prstGeom>
        </p:spPr>
        <p:txBody>
          <a:bodyPr anchor="t" rtlCol="false" tIns="0" lIns="0" bIns="0" rIns="0">
            <a:spAutoFit/>
          </a:bodyPr>
          <a:lstStyle/>
          <a:p>
            <a:pPr algn="l">
              <a:lnSpc>
                <a:spcPts val="2940"/>
              </a:lnSpc>
            </a:pPr>
            <a:r>
              <a:rPr lang="en-US" sz="2100">
                <a:solidFill>
                  <a:srgbClr val="FFFFFF"/>
                </a:solidFill>
                <a:latin typeface="Muli"/>
                <a:ea typeface="Muli"/>
                <a:cs typeface="Muli"/>
                <a:sym typeface="Muli"/>
              </a:rPr>
              <a:t>Chuyển đoạn văn bản đó và câu hỏi sang Ollama</a:t>
            </a:r>
          </a:p>
        </p:txBody>
      </p:sp>
      <p:sp>
        <p:nvSpPr>
          <p:cNvPr name="TextBox 19" id="19"/>
          <p:cNvSpPr txBox="true"/>
          <p:nvPr/>
        </p:nvSpPr>
        <p:spPr>
          <a:xfrm rot="0">
            <a:off x="14017376" y="3523994"/>
            <a:ext cx="3364925" cy="476250"/>
          </a:xfrm>
          <a:prstGeom prst="rect">
            <a:avLst/>
          </a:prstGeom>
        </p:spPr>
        <p:txBody>
          <a:bodyPr anchor="t" rtlCol="false" tIns="0" lIns="0" bIns="0" rIns="0">
            <a:spAutoFit/>
          </a:bodyPr>
          <a:lstStyle/>
          <a:p>
            <a:pPr algn="l" marL="0" indent="0" lvl="0">
              <a:lnSpc>
                <a:spcPts val="3840"/>
              </a:lnSpc>
              <a:spcBef>
                <a:spcPct val="0"/>
              </a:spcBef>
            </a:pPr>
            <a:r>
              <a:rPr lang="en-US" sz="3200">
                <a:solidFill>
                  <a:srgbClr val="FFFFFF"/>
                </a:solidFill>
                <a:latin typeface="Muli"/>
                <a:ea typeface="Muli"/>
                <a:cs typeface="Muli"/>
                <a:sym typeface="Muli"/>
              </a:rPr>
              <a:t>Bước</a:t>
            </a:r>
            <a:r>
              <a:rPr lang="en-US" sz="3200">
                <a:solidFill>
                  <a:srgbClr val="FFFFFF"/>
                </a:solidFill>
                <a:latin typeface="Muli"/>
                <a:ea typeface="Muli"/>
                <a:cs typeface="Muli"/>
                <a:sym typeface="Muli"/>
              </a:rPr>
              <a:t> 4</a:t>
            </a:r>
          </a:p>
        </p:txBody>
      </p:sp>
      <p:sp>
        <p:nvSpPr>
          <p:cNvPr name="TextBox 20" id="20"/>
          <p:cNvSpPr txBox="true"/>
          <p:nvPr/>
        </p:nvSpPr>
        <p:spPr>
          <a:xfrm rot="0">
            <a:off x="13374875" y="4610042"/>
            <a:ext cx="3487925" cy="2213610"/>
          </a:xfrm>
          <a:prstGeom prst="rect">
            <a:avLst/>
          </a:prstGeom>
        </p:spPr>
        <p:txBody>
          <a:bodyPr anchor="t" rtlCol="false" tIns="0" lIns="0" bIns="0" rIns="0">
            <a:spAutoFit/>
          </a:bodyPr>
          <a:lstStyle/>
          <a:p>
            <a:pPr algn="l">
              <a:lnSpc>
                <a:spcPts val="2940"/>
              </a:lnSpc>
            </a:pPr>
            <a:r>
              <a:rPr lang="en-US" sz="2100">
                <a:solidFill>
                  <a:srgbClr val="FFFFFF"/>
                </a:solidFill>
                <a:latin typeface="Muli"/>
                <a:ea typeface="Muli"/>
                <a:cs typeface="Muli"/>
                <a:sym typeface="Muli"/>
              </a:rPr>
              <a:t> Ollama tổng hợp lại thành câu trả lời rành mạch: "Chuẩn đầu ra của ngành công nghệ thông tin tại Đại học Trà Vinh bao gồm các kỹ năng sau:..."</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1356E"/>
        </a:solidFill>
      </p:bgPr>
    </p:bg>
    <p:spTree>
      <p:nvGrpSpPr>
        <p:cNvPr id="1" name=""/>
        <p:cNvGrpSpPr/>
        <p:nvPr/>
      </p:nvGrpSpPr>
      <p:grpSpPr>
        <a:xfrm>
          <a:off x="0" y="0"/>
          <a:ext cx="0" cy="0"/>
          <a:chOff x="0" y="0"/>
          <a:chExt cx="0" cy="0"/>
        </a:xfrm>
      </p:grpSpPr>
      <p:sp>
        <p:nvSpPr>
          <p:cNvPr name="Freeform 2" id="2"/>
          <p:cNvSpPr/>
          <p:nvPr/>
        </p:nvSpPr>
        <p:spPr>
          <a:xfrm flipH="false" flipV="false" rot="0">
            <a:off x="-84277" y="-25245"/>
            <a:ext cx="18372277" cy="10334406"/>
          </a:xfrm>
          <a:custGeom>
            <a:avLst/>
            <a:gdLst/>
            <a:ahLst/>
            <a:cxnLst/>
            <a:rect r="r" b="b" t="t" l="l"/>
            <a:pathLst>
              <a:path h="10334406" w="18372277">
                <a:moveTo>
                  <a:pt x="0" y="0"/>
                </a:moveTo>
                <a:lnTo>
                  <a:pt x="18372277" y="0"/>
                </a:lnTo>
                <a:lnTo>
                  <a:pt x="18372277" y="10334405"/>
                </a:lnTo>
                <a:lnTo>
                  <a:pt x="0" y="103344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26148" y="2924399"/>
            <a:ext cx="11301259" cy="5438731"/>
          </a:xfrm>
          <a:custGeom>
            <a:avLst/>
            <a:gdLst/>
            <a:ahLst/>
            <a:cxnLst/>
            <a:rect r="r" b="b" t="t" l="l"/>
            <a:pathLst>
              <a:path h="5438731" w="11301259">
                <a:moveTo>
                  <a:pt x="0" y="0"/>
                </a:moveTo>
                <a:lnTo>
                  <a:pt x="11301259" y="0"/>
                </a:lnTo>
                <a:lnTo>
                  <a:pt x="11301259" y="5438731"/>
                </a:lnTo>
                <a:lnTo>
                  <a:pt x="0" y="5438731"/>
                </a:lnTo>
                <a:lnTo>
                  <a:pt x="0" y="0"/>
                </a:lnTo>
                <a:close/>
              </a:path>
            </a:pathLst>
          </a:custGeom>
          <a:blipFill>
            <a:blip r:embed="rId4"/>
            <a:stretch>
              <a:fillRect l="0" t="0" r="0" b="0"/>
            </a:stretch>
          </a:blipFill>
        </p:spPr>
      </p:sp>
      <p:sp>
        <p:nvSpPr>
          <p:cNvPr name="TextBox 4" id="4"/>
          <p:cNvSpPr txBox="true"/>
          <p:nvPr/>
        </p:nvSpPr>
        <p:spPr>
          <a:xfrm rot="0">
            <a:off x="1028700" y="1886174"/>
            <a:ext cx="8794895" cy="1038225"/>
          </a:xfrm>
          <a:prstGeom prst="rect">
            <a:avLst/>
          </a:prstGeom>
        </p:spPr>
        <p:txBody>
          <a:bodyPr anchor="t" rtlCol="false" tIns="0" lIns="0" bIns="0" rIns="0">
            <a:spAutoFit/>
          </a:bodyPr>
          <a:lstStyle/>
          <a:p>
            <a:pPr algn="l">
              <a:lnSpc>
                <a:spcPts val="8400"/>
              </a:lnSpc>
            </a:pPr>
            <a:r>
              <a:rPr lang="en-US" sz="6000">
                <a:solidFill>
                  <a:srgbClr val="FFFFFF"/>
                </a:solidFill>
                <a:latin typeface="Cabin"/>
                <a:ea typeface="Cabin"/>
                <a:cs typeface="Cabin"/>
                <a:sym typeface="Cabin"/>
              </a:rPr>
              <a:t>Tr</a:t>
            </a:r>
            <a:r>
              <a:rPr lang="en-US" sz="6000">
                <a:solidFill>
                  <a:srgbClr val="FFFFFF"/>
                </a:solidFill>
                <a:latin typeface="Cabin"/>
                <a:ea typeface="Cabin"/>
                <a:cs typeface="Cabin"/>
                <a:sym typeface="Cabin"/>
              </a:rPr>
              <a:t>iển khai Giao diện</a:t>
            </a:r>
          </a:p>
        </p:txBody>
      </p:sp>
      <p:grpSp>
        <p:nvGrpSpPr>
          <p:cNvPr name="Group 5" id="5"/>
          <p:cNvGrpSpPr/>
          <p:nvPr/>
        </p:nvGrpSpPr>
        <p:grpSpPr>
          <a:xfrm rot="0">
            <a:off x="1028700" y="2975820"/>
            <a:ext cx="4397448" cy="5387310"/>
            <a:chOff x="0" y="0"/>
            <a:chExt cx="5863263" cy="7183080"/>
          </a:xfrm>
        </p:grpSpPr>
        <p:sp>
          <p:nvSpPr>
            <p:cNvPr name="TextBox 6" id="6"/>
            <p:cNvSpPr txBox="true"/>
            <p:nvPr/>
          </p:nvSpPr>
          <p:spPr>
            <a:xfrm rot="0">
              <a:off x="0" y="-57150"/>
              <a:ext cx="5863263" cy="6692477"/>
            </a:xfrm>
            <a:prstGeom prst="rect">
              <a:avLst/>
            </a:prstGeom>
          </p:spPr>
          <p:txBody>
            <a:bodyPr anchor="t" rtlCol="false" tIns="0" lIns="0" bIns="0" rIns="0">
              <a:spAutoFit/>
            </a:bodyPr>
            <a:lstStyle/>
            <a:p>
              <a:pPr algn="l">
                <a:lnSpc>
                  <a:spcPts val="4480"/>
                </a:lnSpc>
              </a:pPr>
              <a:r>
                <a:rPr lang="en-US" sz="3200">
                  <a:solidFill>
                    <a:srgbClr val="FFFFFF"/>
                  </a:solidFill>
                  <a:latin typeface="Cabin"/>
                  <a:ea typeface="Cabin"/>
                  <a:cs typeface="Cabin"/>
                  <a:sym typeface="Cabin"/>
                </a:rPr>
                <a:t>Nhúng vào ứng dụ</a:t>
              </a:r>
              <a:r>
                <a:rPr lang="en-US" sz="3200">
                  <a:solidFill>
                    <a:srgbClr val="FFFFFF"/>
                  </a:solidFill>
                  <a:latin typeface="Cabin"/>
                  <a:ea typeface="Cabin"/>
                  <a:cs typeface="Cabin"/>
                  <a:sym typeface="Cabin"/>
                </a:rPr>
                <a:t>ng Web bằng Streamlit.</a:t>
              </a:r>
            </a:p>
            <a:p>
              <a:pPr algn="l" marL="690881" indent="-345440" lvl="1">
                <a:lnSpc>
                  <a:spcPts val="4480"/>
                </a:lnSpc>
                <a:buFont typeface="Arial"/>
                <a:buChar char="•"/>
              </a:pPr>
              <a:r>
                <a:rPr lang="en-US" sz="3200">
                  <a:solidFill>
                    <a:srgbClr val="FFFFFF"/>
                  </a:solidFill>
                  <a:latin typeface="Cabin"/>
                  <a:ea typeface="Cabin"/>
                  <a:cs typeface="Cabin"/>
                  <a:sym typeface="Cabin"/>
                </a:rPr>
                <a:t>Kết nối với Langflow qua API URL.</a:t>
              </a:r>
            </a:p>
            <a:p>
              <a:pPr algn="l" marL="690881" indent="-345440" lvl="1">
                <a:lnSpc>
                  <a:spcPts val="4480"/>
                </a:lnSpc>
                <a:buFont typeface="Arial"/>
                <a:buChar char="•"/>
              </a:pPr>
              <a:r>
                <a:rPr lang="en-US" sz="3200">
                  <a:solidFill>
                    <a:srgbClr val="FFFFFF"/>
                  </a:solidFill>
                  <a:latin typeface="Cabin"/>
                  <a:ea typeface="Cabin"/>
                  <a:cs typeface="Cabin"/>
                  <a:sym typeface="Cabin"/>
                </a:rPr>
                <a:t>Giao diện thân thiện: Có khung chat, lịch sử trò chuyện và logo TVU</a:t>
              </a:r>
            </a:p>
            <a:p>
              <a:pPr algn="l">
                <a:lnSpc>
                  <a:spcPts val="4480"/>
                </a:lnSpc>
              </a:pPr>
            </a:p>
          </p:txBody>
        </p:sp>
        <p:sp>
          <p:nvSpPr>
            <p:cNvPr name="TextBox 7" id="7"/>
            <p:cNvSpPr txBox="true"/>
            <p:nvPr/>
          </p:nvSpPr>
          <p:spPr>
            <a:xfrm rot="0">
              <a:off x="0" y="6698787"/>
              <a:ext cx="5863263" cy="484293"/>
            </a:xfrm>
            <a:prstGeom prst="rect">
              <a:avLst/>
            </a:prstGeom>
          </p:spPr>
          <p:txBody>
            <a:bodyPr anchor="t" rtlCol="false" tIns="0" lIns="0" bIns="0" rIns="0">
              <a:spAutoFit/>
            </a:bodyPr>
            <a:lstStyle/>
            <a:p>
              <a:pPr algn="l">
                <a:lnSpc>
                  <a:spcPts val="3080"/>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1356E"/>
        </a:solidFill>
      </p:bgPr>
    </p:bg>
    <p:spTree>
      <p:nvGrpSpPr>
        <p:cNvPr id="1" name=""/>
        <p:cNvGrpSpPr/>
        <p:nvPr/>
      </p:nvGrpSpPr>
      <p:grpSpPr>
        <a:xfrm>
          <a:off x="0" y="0"/>
          <a:ext cx="0" cy="0"/>
          <a:chOff x="0" y="0"/>
          <a:chExt cx="0" cy="0"/>
        </a:xfrm>
      </p:grpSpPr>
      <p:sp>
        <p:nvSpPr>
          <p:cNvPr name="TextBox 2" id="2"/>
          <p:cNvSpPr txBox="true"/>
          <p:nvPr/>
        </p:nvSpPr>
        <p:spPr>
          <a:xfrm rot="0">
            <a:off x="1946190" y="2306816"/>
            <a:ext cx="7197810" cy="7848600"/>
          </a:xfrm>
          <a:prstGeom prst="rect">
            <a:avLst/>
          </a:prstGeom>
        </p:spPr>
        <p:txBody>
          <a:bodyPr anchor="t" rtlCol="false" tIns="0" lIns="0" bIns="0" rIns="0">
            <a:spAutoFit/>
          </a:bodyPr>
          <a:lstStyle/>
          <a:p>
            <a:pPr algn="l" marL="755649" indent="-377824" lvl="1">
              <a:lnSpc>
                <a:spcPts val="4199"/>
              </a:lnSpc>
              <a:buFont typeface="Arial"/>
              <a:buChar char="•"/>
            </a:pPr>
            <a:r>
              <a:rPr lang="en-US" sz="3499">
                <a:solidFill>
                  <a:srgbClr val="FFFFFF"/>
                </a:solidFill>
                <a:latin typeface="Muli"/>
                <a:ea typeface="Muli"/>
                <a:cs typeface="Muli"/>
                <a:sym typeface="Muli"/>
              </a:rPr>
              <a:t>Tốc độ: Phản hồi câu hỏi trong khoảng 1 phút.</a:t>
            </a:r>
          </a:p>
          <a:p>
            <a:pPr algn="l" marL="755649" indent="-377824" lvl="1">
              <a:lnSpc>
                <a:spcPts val="4199"/>
              </a:lnSpc>
              <a:spcBef>
                <a:spcPct val="0"/>
              </a:spcBef>
              <a:buFont typeface="Arial"/>
              <a:buChar char="•"/>
            </a:pPr>
            <a:r>
              <a:rPr lang="en-US" sz="3499">
                <a:solidFill>
                  <a:srgbClr val="FFFFFF"/>
                </a:solidFill>
                <a:latin typeface="Muli"/>
                <a:ea typeface="Muli"/>
                <a:cs typeface="Muli"/>
                <a:sym typeface="Muli"/>
              </a:rPr>
              <a:t>Độ chính xác: </a:t>
            </a:r>
            <a:r>
              <a:rPr lang="en-US" sz="3499" u="none">
                <a:solidFill>
                  <a:srgbClr val="FFFFFF"/>
                </a:solidFill>
                <a:latin typeface="Muli"/>
                <a:ea typeface="Muli"/>
                <a:cs typeface="Muli"/>
                <a:sym typeface="Muli"/>
              </a:rPr>
              <a:t>Trả lời đúng các thông tin đặc thù của TVU nhờ dữ liệu RAG.</a:t>
            </a:r>
          </a:p>
          <a:p>
            <a:pPr algn="l" marL="755649" indent="-377824" lvl="1">
              <a:lnSpc>
                <a:spcPts val="4199"/>
              </a:lnSpc>
              <a:spcBef>
                <a:spcPct val="0"/>
              </a:spcBef>
              <a:buFont typeface="Arial"/>
              <a:buChar char="•"/>
            </a:pPr>
            <a:r>
              <a:rPr lang="en-US" sz="3499" u="none">
                <a:solidFill>
                  <a:srgbClr val="FFFFFF"/>
                </a:solidFill>
                <a:latin typeface="Muli"/>
                <a:ea typeface="Muli"/>
                <a:cs typeface="Muli"/>
                <a:sym typeface="Muli"/>
              </a:rPr>
              <a:t>Tính linh hoạt: Dễ dàng cập nhật thông tin mới (ví dụ: điểm chuẩn năm 2025) chỉ bằng cách thay file dữ liệu đầu vào tuy nhiên việc cấu hình máy có giới hạn và việc sữ dụng AI miễn phí nên tốc độ và độ chính xác của thông tin còn hạn chế.</a:t>
            </a:r>
          </a:p>
          <a:p>
            <a:pPr algn="l" marL="0" indent="0" lvl="0">
              <a:lnSpc>
                <a:spcPts val="4199"/>
              </a:lnSpc>
              <a:spcBef>
                <a:spcPct val="0"/>
              </a:spcBef>
            </a:pPr>
          </a:p>
        </p:txBody>
      </p:sp>
      <p:sp>
        <p:nvSpPr>
          <p:cNvPr name="Freeform 3" id="3"/>
          <p:cNvSpPr/>
          <p:nvPr/>
        </p:nvSpPr>
        <p:spPr>
          <a:xfrm flipH="true" flipV="false" rot="0">
            <a:off x="7910023" y="-45488"/>
            <a:ext cx="10377977" cy="10377977"/>
          </a:xfrm>
          <a:custGeom>
            <a:avLst/>
            <a:gdLst/>
            <a:ahLst/>
            <a:cxnLst/>
            <a:rect r="r" b="b" t="t" l="l"/>
            <a:pathLst>
              <a:path h="10377977" w="10377977">
                <a:moveTo>
                  <a:pt x="10377977" y="0"/>
                </a:moveTo>
                <a:lnTo>
                  <a:pt x="0" y="0"/>
                </a:lnTo>
                <a:lnTo>
                  <a:pt x="0" y="10377976"/>
                </a:lnTo>
                <a:lnTo>
                  <a:pt x="10377977" y="10377976"/>
                </a:lnTo>
                <a:lnTo>
                  <a:pt x="1037797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941034" y="1638172"/>
            <a:ext cx="7318266" cy="7620128"/>
            <a:chOff x="0" y="0"/>
            <a:chExt cx="9757688" cy="10160170"/>
          </a:xfrm>
        </p:grpSpPr>
        <p:pic>
          <p:nvPicPr>
            <p:cNvPr name="Picture 5" id="5"/>
            <p:cNvPicPr>
              <a:picLocks noChangeAspect="true"/>
            </p:cNvPicPr>
            <p:nvPr/>
          </p:nvPicPr>
          <p:blipFill>
            <a:blip r:embed="rId4"/>
            <a:srcRect l="34864" t="0" r="18676" b="0"/>
            <a:stretch>
              <a:fillRect/>
            </a:stretch>
          </p:blipFill>
          <p:spPr>
            <a:xfrm flipH="false" flipV="false">
              <a:off x="0" y="0"/>
              <a:ext cx="9757688" cy="10160170"/>
            </a:xfrm>
            <a:prstGeom prst="rect">
              <a:avLst/>
            </a:prstGeom>
          </p:spPr>
        </p:pic>
      </p:grpSp>
      <p:sp>
        <p:nvSpPr>
          <p:cNvPr name="Freeform 6" id="6"/>
          <p:cNvSpPr/>
          <p:nvPr/>
        </p:nvSpPr>
        <p:spPr>
          <a:xfrm flipH="false" flipV="false" rot="0">
            <a:off x="1412015" y="2297291"/>
            <a:ext cx="403837" cy="403837"/>
          </a:xfrm>
          <a:custGeom>
            <a:avLst/>
            <a:gdLst/>
            <a:ahLst/>
            <a:cxnLst/>
            <a:rect r="r" b="b" t="t" l="l"/>
            <a:pathLst>
              <a:path h="403837" w="403837">
                <a:moveTo>
                  <a:pt x="0" y="0"/>
                </a:moveTo>
                <a:lnTo>
                  <a:pt x="403837" y="0"/>
                </a:lnTo>
                <a:lnTo>
                  <a:pt x="403837" y="403836"/>
                </a:lnTo>
                <a:lnTo>
                  <a:pt x="0" y="4038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412015" y="1171447"/>
            <a:ext cx="7197810" cy="923925"/>
          </a:xfrm>
          <a:prstGeom prst="rect">
            <a:avLst/>
          </a:prstGeom>
        </p:spPr>
        <p:txBody>
          <a:bodyPr anchor="t" rtlCol="false" tIns="0" lIns="0" bIns="0" rIns="0">
            <a:spAutoFit/>
          </a:bodyPr>
          <a:lstStyle/>
          <a:p>
            <a:pPr algn="l">
              <a:lnSpc>
                <a:spcPts val="7200"/>
              </a:lnSpc>
            </a:pPr>
            <a:r>
              <a:rPr lang="en-US" sz="6000">
                <a:solidFill>
                  <a:srgbClr val="FFFFFF"/>
                </a:solidFill>
                <a:latin typeface="Cabin"/>
                <a:ea typeface="Cabin"/>
                <a:cs typeface="Cabin"/>
                <a:sym typeface="Cabin"/>
              </a:rPr>
              <a:t> Kết quả đạt được</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1356E"/>
        </a:solidFill>
      </p:bgPr>
    </p:bg>
    <p:spTree>
      <p:nvGrpSpPr>
        <p:cNvPr id="1" name=""/>
        <p:cNvGrpSpPr/>
        <p:nvPr/>
      </p:nvGrpSpPr>
      <p:grpSpPr>
        <a:xfrm>
          <a:off x="0" y="0"/>
          <a:ext cx="0" cy="0"/>
          <a:chOff x="0" y="0"/>
          <a:chExt cx="0" cy="0"/>
        </a:xfrm>
      </p:grpSpPr>
      <p:sp>
        <p:nvSpPr>
          <p:cNvPr name="TextBox 2" id="2"/>
          <p:cNvSpPr txBox="true"/>
          <p:nvPr/>
        </p:nvSpPr>
        <p:spPr>
          <a:xfrm rot="0">
            <a:off x="1028700" y="1019175"/>
            <a:ext cx="9526234" cy="923925"/>
          </a:xfrm>
          <a:prstGeom prst="rect">
            <a:avLst/>
          </a:prstGeom>
        </p:spPr>
        <p:txBody>
          <a:bodyPr anchor="t" rtlCol="false" tIns="0" lIns="0" bIns="0" rIns="0">
            <a:spAutoFit/>
          </a:bodyPr>
          <a:lstStyle/>
          <a:p>
            <a:pPr algn="l">
              <a:lnSpc>
                <a:spcPts val="7200"/>
              </a:lnSpc>
            </a:pPr>
            <a:r>
              <a:rPr lang="en-US" sz="6000">
                <a:solidFill>
                  <a:srgbClr val="FFFFFF"/>
                </a:solidFill>
                <a:latin typeface="Cabin"/>
                <a:ea typeface="Cabin"/>
                <a:cs typeface="Cabin"/>
                <a:sym typeface="Cabin"/>
              </a:rPr>
              <a:t>Kết luậ</a:t>
            </a:r>
            <a:r>
              <a:rPr lang="en-US" sz="6000">
                <a:solidFill>
                  <a:srgbClr val="FFFFFF"/>
                </a:solidFill>
                <a:latin typeface="Cabin"/>
                <a:ea typeface="Cabin"/>
                <a:cs typeface="Cabin"/>
                <a:sym typeface="Cabin"/>
              </a:rPr>
              <a:t>n và Hướng phát triển</a:t>
            </a:r>
          </a:p>
        </p:txBody>
      </p:sp>
      <p:grpSp>
        <p:nvGrpSpPr>
          <p:cNvPr name="Group 3" id="3"/>
          <p:cNvGrpSpPr/>
          <p:nvPr/>
        </p:nvGrpSpPr>
        <p:grpSpPr>
          <a:xfrm rot="0">
            <a:off x="1648340" y="2879725"/>
            <a:ext cx="14991321" cy="4527550"/>
            <a:chOff x="0" y="0"/>
            <a:chExt cx="19988428" cy="6036734"/>
          </a:xfrm>
        </p:grpSpPr>
        <p:sp>
          <p:nvSpPr>
            <p:cNvPr name="TextBox 4" id="4"/>
            <p:cNvSpPr txBox="true"/>
            <p:nvPr/>
          </p:nvSpPr>
          <p:spPr>
            <a:xfrm rot="0">
              <a:off x="2090661" y="-28575"/>
              <a:ext cx="17897767" cy="6065309"/>
            </a:xfrm>
            <a:prstGeom prst="rect">
              <a:avLst/>
            </a:prstGeom>
          </p:spPr>
          <p:txBody>
            <a:bodyPr anchor="t" rtlCol="false" tIns="0" lIns="0" bIns="0" rIns="0">
              <a:spAutoFit/>
            </a:bodyPr>
            <a:lstStyle/>
            <a:p>
              <a:pPr algn="l" marL="755646" indent="-377823" lvl="1">
                <a:lnSpc>
                  <a:spcPts val="4549"/>
                </a:lnSpc>
                <a:buFont typeface="Arial"/>
                <a:buChar char="•"/>
              </a:pPr>
              <a:r>
                <a:rPr lang="en-US" sz="3499">
                  <a:solidFill>
                    <a:srgbClr val="FFFFFF"/>
                  </a:solidFill>
                  <a:latin typeface="Muli"/>
                  <a:ea typeface="Muli"/>
                  <a:cs typeface="Muli"/>
                  <a:sym typeface="Muli"/>
                </a:rPr>
                <a:t>Kết luận: Dự án chứng minh khả năng ứng dụng AI mã nguồn mở vào thực tế nhà trường một cách hiệu quả và tiết kiệm.</a:t>
              </a:r>
            </a:p>
            <a:p>
              <a:pPr algn="l" marL="755646" indent="-377823" lvl="1">
                <a:lnSpc>
                  <a:spcPts val="4549"/>
                </a:lnSpc>
                <a:buFont typeface="Arial"/>
                <a:buChar char="•"/>
              </a:pPr>
              <a:r>
                <a:rPr lang="en-US" sz="3499">
                  <a:solidFill>
                    <a:srgbClr val="FFFFFF"/>
                  </a:solidFill>
                  <a:latin typeface="Muli"/>
                  <a:ea typeface="Muli"/>
                  <a:cs typeface="Muli"/>
                  <a:sym typeface="Muli"/>
                </a:rPr>
                <a:t>Hướng phát triển:</a:t>
              </a:r>
            </a:p>
            <a:p>
              <a:pPr algn="l" marL="755646" indent="-377823" lvl="1">
                <a:lnSpc>
                  <a:spcPts val="4549"/>
                </a:lnSpc>
                <a:buFont typeface="Arial"/>
                <a:buChar char="•"/>
              </a:pPr>
              <a:r>
                <a:rPr lang="en-US" sz="3499">
                  <a:solidFill>
                    <a:srgbClr val="FFFFFF"/>
                  </a:solidFill>
                  <a:latin typeface="Muli"/>
                  <a:ea typeface="Muli"/>
                  <a:cs typeface="Muli"/>
                  <a:sym typeface="Muli"/>
                </a:rPr>
                <a:t>Mở rộng dữ liệu đầy đủ cho thông tin tuyển sinh.</a:t>
              </a:r>
            </a:p>
            <a:p>
              <a:pPr algn="l" marL="755646" indent="-377823" lvl="1">
                <a:lnSpc>
                  <a:spcPts val="4549"/>
                </a:lnSpc>
                <a:buFont typeface="Arial"/>
                <a:buChar char="•"/>
              </a:pPr>
              <a:r>
                <a:rPr lang="en-US" sz="3499">
                  <a:solidFill>
                    <a:srgbClr val="FFFFFF"/>
                  </a:solidFill>
                  <a:latin typeface="Muli"/>
                  <a:ea typeface="Muli"/>
                  <a:cs typeface="Muli"/>
                  <a:sym typeface="Muli"/>
                </a:rPr>
                <a:t>Nâng cấp AI và cấu hình máy để cải thiện phục vụ xử lí</a:t>
              </a:r>
              <a:r>
                <a:rPr lang="en-US" sz="3499">
                  <a:solidFill>
                    <a:srgbClr val="FFFFFF"/>
                  </a:solidFill>
                  <a:latin typeface="Muli"/>
                  <a:ea typeface="Muli"/>
                  <a:cs typeface="Muli"/>
                  <a:sym typeface="Muli"/>
                </a:rPr>
                <a:t>.</a:t>
              </a:r>
            </a:p>
            <a:p>
              <a:pPr algn="l" marL="755646" indent="-377823" lvl="1">
                <a:lnSpc>
                  <a:spcPts val="4549"/>
                </a:lnSpc>
                <a:buFont typeface="Arial"/>
                <a:buChar char="•"/>
              </a:pPr>
              <a:r>
                <a:rPr lang="en-US" sz="3499">
                  <a:solidFill>
                    <a:srgbClr val="FFFFFF"/>
                  </a:solidFill>
                  <a:latin typeface="Muli"/>
                  <a:ea typeface="Muli"/>
                  <a:cs typeface="Muli"/>
                  <a:sym typeface="Muli"/>
                </a:rPr>
                <a:t>Triển khai lên Server của trường để phục vụ hàng ngàn sinh viên.</a:t>
              </a:r>
            </a:p>
            <a:p>
              <a:pPr algn="l">
                <a:lnSpc>
                  <a:spcPts val="4549"/>
                </a:lnSpc>
              </a:pPr>
            </a:p>
          </p:txBody>
        </p:sp>
        <p:sp>
          <p:nvSpPr>
            <p:cNvPr name="Freeform 5" id="5"/>
            <p:cNvSpPr/>
            <p:nvPr/>
          </p:nvSpPr>
          <p:spPr>
            <a:xfrm flipH="false" flipV="false" rot="0">
              <a:off x="0" y="0"/>
              <a:ext cx="538449" cy="538449"/>
            </a:xfrm>
            <a:custGeom>
              <a:avLst/>
              <a:gdLst/>
              <a:ahLst/>
              <a:cxnLst/>
              <a:rect r="r" b="b" t="t" l="l"/>
              <a:pathLst>
                <a:path h="538449" w="538449">
                  <a:moveTo>
                    <a:pt x="0" y="0"/>
                  </a:moveTo>
                  <a:lnTo>
                    <a:pt x="538449" y="0"/>
                  </a:lnTo>
                  <a:lnTo>
                    <a:pt x="538449" y="538449"/>
                  </a:lnTo>
                  <a:lnTo>
                    <a:pt x="0" y="5384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1356E"/>
        </a:solidFill>
      </p:bgPr>
    </p:bg>
    <p:spTree>
      <p:nvGrpSpPr>
        <p:cNvPr id="1" name=""/>
        <p:cNvGrpSpPr/>
        <p:nvPr/>
      </p:nvGrpSpPr>
      <p:grpSpPr>
        <a:xfrm>
          <a:off x="0" y="0"/>
          <a:ext cx="0" cy="0"/>
          <a:chOff x="0" y="0"/>
          <a:chExt cx="0" cy="0"/>
        </a:xfrm>
      </p:grpSpPr>
      <p:sp>
        <p:nvSpPr>
          <p:cNvPr name="Freeform 2" id="2"/>
          <p:cNvSpPr/>
          <p:nvPr/>
        </p:nvSpPr>
        <p:spPr>
          <a:xfrm flipH="false" flipV="false" rot="0">
            <a:off x="-84277" y="-25245"/>
            <a:ext cx="18372277" cy="10334406"/>
          </a:xfrm>
          <a:custGeom>
            <a:avLst/>
            <a:gdLst/>
            <a:ahLst/>
            <a:cxnLst/>
            <a:rect r="r" b="b" t="t" l="l"/>
            <a:pathLst>
              <a:path h="10334406" w="18372277">
                <a:moveTo>
                  <a:pt x="0" y="0"/>
                </a:moveTo>
                <a:lnTo>
                  <a:pt x="18372277" y="0"/>
                </a:lnTo>
                <a:lnTo>
                  <a:pt x="18372277" y="10334405"/>
                </a:lnTo>
                <a:lnTo>
                  <a:pt x="0" y="103344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849283" y="2061844"/>
            <a:ext cx="10505157" cy="3081656"/>
          </a:xfrm>
          <a:prstGeom prst="rect">
            <a:avLst/>
          </a:prstGeom>
        </p:spPr>
        <p:txBody>
          <a:bodyPr anchor="t" rtlCol="false" tIns="0" lIns="0" bIns="0" rIns="0">
            <a:spAutoFit/>
          </a:bodyPr>
          <a:lstStyle/>
          <a:p>
            <a:pPr algn="ctr">
              <a:lnSpc>
                <a:spcPts val="12319"/>
              </a:lnSpc>
            </a:pPr>
            <a:r>
              <a:rPr lang="en-US" sz="8799">
                <a:solidFill>
                  <a:srgbClr val="FFFFFF"/>
                </a:solidFill>
                <a:latin typeface="Cabin"/>
                <a:ea typeface="Cabin"/>
                <a:cs typeface="Cabin"/>
                <a:sym typeface="Cabin"/>
              </a:rPr>
              <a:t>Cảm ơ</a:t>
            </a:r>
            <a:r>
              <a:rPr lang="en-US" sz="8799">
                <a:solidFill>
                  <a:srgbClr val="FFFFFF"/>
                </a:solidFill>
                <a:latin typeface="Cabin"/>
                <a:ea typeface="Cabin"/>
                <a:cs typeface="Cabin"/>
                <a:sym typeface="Cabin"/>
              </a:rPr>
              <a:t>n thầy cô và các bạn đã lắng nghe</a:t>
            </a:r>
          </a:p>
        </p:txBody>
      </p:sp>
      <p:grpSp>
        <p:nvGrpSpPr>
          <p:cNvPr name="Group 4" id="4"/>
          <p:cNvGrpSpPr/>
          <p:nvPr/>
        </p:nvGrpSpPr>
        <p:grpSpPr>
          <a:xfrm rot="0">
            <a:off x="7160438" y="6960919"/>
            <a:ext cx="3967125" cy="888369"/>
            <a:chOff x="0" y="0"/>
            <a:chExt cx="5289500" cy="1184493"/>
          </a:xfrm>
        </p:grpSpPr>
        <p:sp>
          <p:nvSpPr>
            <p:cNvPr name="TextBox 5" id="5"/>
            <p:cNvSpPr txBox="true"/>
            <p:nvPr/>
          </p:nvSpPr>
          <p:spPr>
            <a:xfrm rot="0">
              <a:off x="0" y="-57136"/>
              <a:ext cx="5289500" cy="697988"/>
            </a:xfrm>
            <a:prstGeom prst="rect">
              <a:avLst/>
            </a:prstGeom>
          </p:spPr>
          <p:txBody>
            <a:bodyPr anchor="t" rtlCol="false" tIns="0" lIns="0" bIns="0" rIns="0">
              <a:spAutoFit/>
            </a:bodyPr>
            <a:lstStyle/>
            <a:p>
              <a:pPr algn="l">
                <a:lnSpc>
                  <a:spcPts val="4480"/>
                </a:lnSpc>
              </a:pPr>
              <a:r>
                <a:rPr lang="en-US" sz="3200">
                  <a:solidFill>
                    <a:srgbClr val="FFFFFF"/>
                  </a:solidFill>
                  <a:latin typeface="Cabin"/>
                  <a:ea typeface="Cabin"/>
                  <a:cs typeface="Cabin"/>
                  <a:sym typeface="Cabin"/>
                </a:rPr>
                <a:t>Email</a:t>
              </a:r>
            </a:p>
          </p:txBody>
        </p:sp>
        <p:sp>
          <p:nvSpPr>
            <p:cNvPr name="TextBox 6" id="6"/>
            <p:cNvSpPr txBox="true"/>
            <p:nvPr/>
          </p:nvSpPr>
          <p:spPr>
            <a:xfrm rot="0">
              <a:off x="0" y="700199"/>
              <a:ext cx="5289500" cy="484293"/>
            </a:xfrm>
            <a:prstGeom prst="rect">
              <a:avLst/>
            </a:prstGeom>
          </p:spPr>
          <p:txBody>
            <a:bodyPr anchor="t" rtlCol="false" tIns="0" lIns="0" bIns="0" rIns="0">
              <a:spAutoFit/>
            </a:bodyPr>
            <a:lstStyle/>
            <a:p>
              <a:pPr algn="l">
                <a:lnSpc>
                  <a:spcPts val="3080"/>
                </a:lnSpc>
              </a:pPr>
              <a:r>
                <a:rPr lang="en-US" sz="2200">
                  <a:solidFill>
                    <a:srgbClr val="FFFFFF"/>
                  </a:solidFill>
                  <a:latin typeface="Muli"/>
                  <a:ea typeface="Muli"/>
                  <a:cs typeface="Muli"/>
                  <a:sym typeface="Muli"/>
                </a:rPr>
                <a:t>vanphucskt@gmail.com</a:t>
              </a:r>
            </a:p>
          </p:txBody>
        </p:sp>
      </p:grpSp>
      <p:grpSp>
        <p:nvGrpSpPr>
          <p:cNvPr name="Group 7" id="7"/>
          <p:cNvGrpSpPr/>
          <p:nvPr/>
        </p:nvGrpSpPr>
        <p:grpSpPr>
          <a:xfrm rot="0">
            <a:off x="1865721" y="6960935"/>
            <a:ext cx="3967125" cy="1281979"/>
            <a:chOff x="0" y="0"/>
            <a:chExt cx="5289500" cy="1709306"/>
          </a:xfrm>
        </p:grpSpPr>
        <p:sp>
          <p:nvSpPr>
            <p:cNvPr name="TextBox 8" id="8"/>
            <p:cNvSpPr txBox="true"/>
            <p:nvPr/>
          </p:nvSpPr>
          <p:spPr>
            <a:xfrm rot="0">
              <a:off x="0" y="-57136"/>
              <a:ext cx="5289500" cy="697988"/>
            </a:xfrm>
            <a:prstGeom prst="rect">
              <a:avLst/>
            </a:prstGeom>
          </p:spPr>
          <p:txBody>
            <a:bodyPr anchor="t" rtlCol="false" tIns="0" lIns="0" bIns="0" rIns="0">
              <a:spAutoFit/>
            </a:bodyPr>
            <a:lstStyle/>
            <a:p>
              <a:pPr algn="l">
                <a:lnSpc>
                  <a:spcPts val="4480"/>
                </a:lnSpc>
              </a:pPr>
              <a:r>
                <a:rPr lang="en-US" sz="3200">
                  <a:solidFill>
                    <a:srgbClr val="FFFFFF"/>
                  </a:solidFill>
                  <a:latin typeface="Cabin"/>
                  <a:ea typeface="Cabin"/>
                  <a:cs typeface="Cabin"/>
                  <a:sym typeface="Cabin"/>
                </a:rPr>
                <a:t>M</a:t>
              </a:r>
              <a:r>
                <a:rPr lang="en-US" sz="3200">
                  <a:solidFill>
                    <a:srgbClr val="FFFFFF"/>
                  </a:solidFill>
                  <a:latin typeface="Cabin"/>
                  <a:ea typeface="Cabin"/>
                  <a:cs typeface="Cabin"/>
                  <a:sym typeface="Cabin"/>
                </a:rPr>
                <a:t>ạng xã hội</a:t>
              </a:r>
            </a:p>
          </p:txBody>
        </p:sp>
        <p:sp>
          <p:nvSpPr>
            <p:cNvPr name="TextBox 9" id="9"/>
            <p:cNvSpPr txBox="true"/>
            <p:nvPr/>
          </p:nvSpPr>
          <p:spPr>
            <a:xfrm rot="0">
              <a:off x="0" y="704312"/>
              <a:ext cx="5289500" cy="1004993"/>
            </a:xfrm>
            <a:prstGeom prst="rect">
              <a:avLst/>
            </a:prstGeom>
          </p:spPr>
          <p:txBody>
            <a:bodyPr anchor="t" rtlCol="false" tIns="0" lIns="0" bIns="0" rIns="0">
              <a:spAutoFit/>
            </a:bodyPr>
            <a:lstStyle/>
            <a:p>
              <a:pPr algn="l">
                <a:lnSpc>
                  <a:spcPts val="3080"/>
                </a:lnSpc>
              </a:pPr>
              <a:r>
                <a:rPr lang="en-US" sz="2200">
                  <a:solidFill>
                    <a:srgbClr val="FFFFFF"/>
                  </a:solidFill>
                  <a:latin typeface="Muli"/>
                  <a:ea typeface="Muli"/>
                  <a:cs typeface="Muli"/>
                  <a:sym typeface="Muli"/>
                </a:rPr>
                <a:t>@www.facebook.com/nguyen.phuc.315237</a:t>
              </a:r>
            </a:p>
          </p:txBody>
        </p:sp>
      </p:grpSp>
      <p:grpSp>
        <p:nvGrpSpPr>
          <p:cNvPr name="Group 10" id="10"/>
          <p:cNvGrpSpPr/>
          <p:nvPr/>
        </p:nvGrpSpPr>
        <p:grpSpPr>
          <a:xfrm rot="0">
            <a:off x="12370878" y="6960919"/>
            <a:ext cx="3967125" cy="891454"/>
            <a:chOff x="0" y="0"/>
            <a:chExt cx="5289500" cy="1188606"/>
          </a:xfrm>
        </p:grpSpPr>
        <p:sp>
          <p:nvSpPr>
            <p:cNvPr name="TextBox 11" id="11"/>
            <p:cNvSpPr txBox="true"/>
            <p:nvPr/>
          </p:nvSpPr>
          <p:spPr>
            <a:xfrm rot="0">
              <a:off x="0" y="-57136"/>
              <a:ext cx="5289500" cy="697988"/>
            </a:xfrm>
            <a:prstGeom prst="rect">
              <a:avLst/>
            </a:prstGeom>
          </p:spPr>
          <p:txBody>
            <a:bodyPr anchor="t" rtlCol="false" tIns="0" lIns="0" bIns="0" rIns="0">
              <a:spAutoFit/>
            </a:bodyPr>
            <a:lstStyle/>
            <a:p>
              <a:pPr algn="l">
                <a:lnSpc>
                  <a:spcPts val="4480"/>
                </a:lnSpc>
              </a:pPr>
              <a:r>
                <a:rPr lang="en-US" sz="3200">
                  <a:solidFill>
                    <a:srgbClr val="FFFFFF"/>
                  </a:solidFill>
                  <a:latin typeface="Cabin"/>
                  <a:ea typeface="Cabin"/>
                  <a:cs typeface="Cabin"/>
                  <a:sym typeface="Cabin"/>
                </a:rPr>
                <a:t>Điện thoại</a:t>
              </a:r>
            </a:p>
          </p:txBody>
        </p:sp>
        <p:sp>
          <p:nvSpPr>
            <p:cNvPr name="TextBox 12" id="12"/>
            <p:cNvSpPr txBox="true"/>
            <p:nvPr/>
          </p:nvSpPr>
          <p:spPr>
            <a:xfrm rot="0">
              <a:off x="0" y="704312"/>
              <a:ext cx="5289500" cy="484293"/>
            </a:xfrm>
            <a:prstGeom prst="rect">
              <a:avLst/>
            </a:prstGeom>
          </p:spPr>
          <p:txBody>
            <a:bodyPr anchor="t" rtlCol="false" tIns="0" lIns="0" bIns="0" rIns="0">
              <a:spAutoFit/>
            </a:bodyPr>
            <a:lstStyle/>
            <a:p>
              <a:pPr algn="l">
                <a:lnSpc>
                  <a:spcPts val="3080"/>
                </a:lnSpc>
              </a:pPr>
              <a:r>
                <a:rPr lang="en-US" sz="2200">
                  <a:solidFill>
                    <a:srgbClr val="FFFFFF"/>
                  </a:solidFill>
                  <a:latin typeface="Muli"/>
                  <a:ea typeface="Muli"/>
                  <a:cs typeface="Muli"/>
                  <a:sym typeface="Muli"/>
                </a:rPr>
                <a:t>0353374456</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DAG99QHmca4</dc:identifier>
  <dcterms:modified xsi:type="dcterms:W3CDTF">2011-08-01T06:04:30Z</dcterms:modified>
  <cp:revision>1</cp:revision>
  <dc:title>Tìm hiểu Lànglow và xây dựng Pipeline Tư vấn Tuyển sinh Đại học Trà Vinh bằng Langflow và Ollama.</dc:title>
</cp:coreProperties>
</file>